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RESEARCH REPORT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PETsARD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249424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Enhancing Technologies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Analysis, Research, and Development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台灣開源合成資料生成與隱私評估平台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691640" cy="347472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86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合成資料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68880" y="3886200"/>
            <a:ext cx="1691640" cy="347472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886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隱私評估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3886200"/>
            <a:ext cx="1691640" cy="347472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886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NICS-CAPE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1691640" cy="347472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886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MIT License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v1.10.2  ·  2026-06-23  ·  Standard Research Mode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2 / 17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" y="12435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背景與政策動機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" y="19019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整體架構與設計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" y="2560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合成演算法（Synthesizer）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" y="3218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評估框架（Evaluator）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" y="38770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自研 mpUCCs 演算法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1207008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66944" y="12435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與同類工具比較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1865376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66944" y="19019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安裝與快速上手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54880" y="2523744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66944" y="2560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應用場景與限制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754880" y="3182112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66944" y="3218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綜合洞察與建議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  背景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是什麼？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3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8872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（/pəˈtɑrd/）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＝  Privacy Enhancing Technologies Analysis, Research, and Development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651760" cy="24505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政策委託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299923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數位發展部（moda）委託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NICS-CAPE 開發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1965960"/>
            <a:ext cx="2651760" cy="24505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2578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核心目標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299923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標準化、可驗證、開源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合成資料工具鏈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651760" cy="24505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057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2578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合規導向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299923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評估門檻對齊新加坡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PDPC 2023 / GDPR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  背景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版本演進與現況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4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731520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633472"/>
            <a:ext cx="237744" cy="237744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9144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-137160" y="1536192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數位發展部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2376" y="1828800"/>
            <a:ext cx="18288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2633472"/>
            <a:ext cx="237744" cy="23774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1536192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委託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NICS-CAPE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51176" y="1828800"/>
            <a:ext cx="18288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0248" y="2633472"/>
            <a:ext cx="237744" cy="237744"/>
          </a:xfrm>
          <a:prstGeom prst="oval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2024-12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20440" y="1536192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v1.0 交付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moda-gov-tw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79976" y="1828800"/>
            <a:ext cx="18288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9048" y="2633472"/>
            <a:ext cx="237744" cy="237744"/>
          </a:xfrm>
          <a:prstGeom prst="oval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1536192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v1.3.1 遷移至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nics-dp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08776" y="1828800"/>
            <a:ext cx="18288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27848" y="2633472"/>
            <a:ext cx="237744" cy="237744"/>
          </a:xfrm>
          <a:prstGeom prst="oval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1704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78040" y="1536192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v1.10.2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Stable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42 版本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37576" y="1828800"/>
            <a:ext cx="18288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00400"/>
            <a:ext cx="192024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91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v1.10.2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7200" y="3877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最新版本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560320" y="3200400"/>
            <a:ext cx="192024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3291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560320" y="3877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累計版本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663440" y="3200400"/>
            <a:ext cx="192024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291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663440" y="3877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授權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766560" y="3200400"/>
            <a:ext cx="1920240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291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766560" y="38770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PyPI 狀態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  架構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八模組管線架構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5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1554480" cy="12070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2070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" y="1627632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CSV/Excel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benchmark://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10512" y="1499616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75104" y="1170432"/>
            <a:ext cx="1554480" cy="12070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75104" y="12070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75104" y="1627632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80/20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訓練/測試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9584" y="1499616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94176" y="1170432"/>
            <a:ext cx="1554480" cy="12070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12070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Preprocessor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94176" y="1627632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缺失值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編碼/縮放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48656" y="1499616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13248" y="1170432"/>
            <a:ext cx="1554480" cy="12070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12070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13248" y="1627632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合成演算法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見下節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67728" y="1499616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32320" y="1170432"/>
            <a:ext cx="1554480" cy="12070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12070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Postprocessor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0" y="1627632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逆轉換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還原格式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8563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485632" y="2468880"/>
            <a:ext cx="1737360" cy="120700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250545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85632" y="2926080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業務約束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NaN groups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11312" y="288950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←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5664" y="2468880"/>
            <a:ext cx="1737360" cy="120700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5664" y="250545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55664" y="2926080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統計描述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Schema 文件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81344" y="288950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←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25696" y="2468880"/>
            <a:ext cx="1737360" cy="120700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5696" y="250545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425696" y="2926080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隱私/保真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效用評估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151376" y="288950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←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395728" y="2468880"/>
            <a:ext cx="1737360" cy="120700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95728" y="250545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Reporter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395728" y="2926080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輸出報告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四種粒度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56032" y="3822192"/>
            <a:ext cx="868680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822192"/>
            <a:ext cx="8650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Executor  —  run() · get_result() · get_timing() · is_execution_completed() · get_inferred_schema()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  合成演算法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Synthesizer：四層合成選項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6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3840480" cy="2542032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70432"/>
            <a:ext cx="3840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🔬 自研 Gaussian Copula（預設）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16642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邊際轉換→高斯化→相關學習→取樣→逆轉換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Numba JIT 加速（2–3×，極端 10–100×）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25420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PyTorch GPU 支援（≥50,000 行自動啟動）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298094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線性相關假設；欄位 &gt;1000 時 O(n²)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0" y="1170432"/>
            <a:ext cx="4114800" cy="2542032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70432"/>
            <a:ext cx="41148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1704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🔌 SDV 整合算法（petsard[all]）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45152" y="1664208"/>
            <a:ext cx="155448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68249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GaussianCopula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1682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快速、統計穩健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45152" y="2103120"/>
            <a:ext cx="155448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21214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CTGAN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21214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GAN-based，複雜多峰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45152" y="2542032"/>
            <a:ext cx="155448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256032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CopulaGAN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2560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混合型，beta 分佈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45152" y="2980944"/>
            <a:ext cx="155448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999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TVAE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63640" y="29992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VAE-based，訓練穩定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3858768"/>
            <a:ext cx="822960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85876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🔧 custom_method — module_path + class_name 接入任意第三方演算法  |  📁 custom_data — 匯入外部合成資料純做評估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" y="44256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SDV 整合部分受 BUSL 1.1 限制，商業競爭用途須留意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  評估框架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Evaluator：四維度評估框架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7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8016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資料有效性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1691640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工具：SDMetrics DiagnosticReport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2103120"/>
            <a:ext cx="155448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103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達標：≈ 1.0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28016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隱私保護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64608" y="1691640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工具：Anonymeter（GDPR 三維）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64608" y="2103120"/>
            <a:ext cx="15544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103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達標：&lt; 0.09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3931920" cy="1554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80360"/>
            <a:ext cx="3931920" cy="45720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97180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保真度 Fidelity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" y="3383280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工具：SDMetrics QualityReport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1554480" cy="384048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94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達標：≥ 0.75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393192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80360"/>
            <a:ext cx="393192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97180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效用 Utility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64608" y="3383280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工具：XGBoost + K-means（TSTR）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864608" y="3794760"/>
            <a:ext cx="155448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794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達標：F1 ≥ 0.7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  評估框架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隱私評估：Anonymeter GDPR 三維框架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8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822960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7043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依據：EU Article 29 WP29 2014 · Giomi et al. PoPETs 2023 · 法國 CNIL 背書  |  門檻 &lt;0.09 來自新加坡 PDPC 2023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2651760" cy="2633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19072"/>
            <a:ext cx="26517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Singling 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能否以欄位組合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唯一辨識個人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127248"/>
            <a:ext cx="22860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anonymeter-singlingout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51560" y="3584448"/>
            <a:ext cx="146304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5844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強制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91840" y="1719072"/>
            <a:ext cx="2651760" cy="2633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719072"/>
            <a:ext cx="2651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Linkability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224028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能否跨資料集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連結同一個人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74720" y="3127248"/>
            <a:ext cx="22860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anonymeter-linkability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886200" y="3584448"/>
            <a:ext cx="14630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5844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情境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1719072"/>
            <a:ext cx="2651760" cy="2633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719072"/>
            <a:ext cx="2651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224028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能否從輔助欄位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推導敏感欄位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3127248"/>
            <a:ext cx="22860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anonymeter-inference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720840" y="3584448"/>
            <a:ext cx="14630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5844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情境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708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= ( 主攻擊率 − 基準攻擊率 ) ÷ ( 1 − 基準攻擊率 )    達標：risk &lt; 0.09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9 / 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"/>
            <a:ext cx="3108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  自研 mpUCCs 演算法（實驗性）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mpUCCs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Maximal Partial Unique Column Combinations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560320" cy="2542032"/>
          </a:xfrm>
          <a:prstGeom prst="rect">
            <a:avLst/>
          </a:prstGeom>
          <a:solidFill>
            <a:srgbClr val="0A7A7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16×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 Anonymeter 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（44 秒 vs 12 分鐘）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E6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技術原理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3408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貪婪基數優先縮小搜尋空間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2779776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決策樹剪枝排除無效欄位組合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3218688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Rényi 熵（α=2）量化辨識風險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365760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完整評估（非抽樣）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0" y="4096512"/>
            <a:ext cx="1691640" cy="594360"/>
          </a:xfrm>
          <a:prstGeom prst="rect">
            <a:avLst/>
          </a:prstGeom>
          <a:solidFill>
            <a:srgbClr val="0A7A7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41148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公開釋出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435254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74920" y="4096512"/>
            <a:ext cx="1691640" cy="594360"/>
          </a:xfrm>
          <a:prstGeom prst="rect">
            <a:avLst/>
          </a:prstGeom>
          <a:solidFill>
            <a:srgbClr val="0A7A7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1148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研究共享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4920" y="435254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0.10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49440" y="4096512"/>
            <a:ext cx="1691640" cy="594360"/>
          </a:xfrm>
          <a:prstGeom prst="rect">
            <a:avLst/>
          </a:prstGeom>
          <a:solidFill>
            <a:srgbClr val="0A7A7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41148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醫療/金融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435254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0.01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實驗性功能：API 仍可能調整，不建議作為唯一正式合規依據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  評估框架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效用評估：TSTR 典範（Train on Synthetic, Test on Real）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10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2633472" cy="299923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07008"/>
            <a:ext cx="2633472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0700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分類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模型：XGBoost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17627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 ≥ 0.7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 AUC ≥ 0.8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MCC ≥ 0.5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24688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36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mlutility-classification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10128" y="1207008"/>
            <a:ext cx="2633472" cy="2999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1207008"/>
            <a:ext cx="2633472" cy="475488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20700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迴歸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47288" y="1737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模型：XGBoost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47288" y="217627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R² ≥ 0.7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RMSE（相對）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01568" y="3236976"/>
            <a:ext cx="24688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236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mlutility-regression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63056" y="1207008"/>
            <a:ext cx="2633472" cy="2999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1207008"/>
            <a:ext cx="263347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120700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0216" y="1737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模型：K-means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0216" y="217627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Silhouette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係數 ≥ 0.5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4496" y="3236976"/>
            <a:ext cx="24688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3236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mlutility-clustering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1596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保真度 · SDMetrics QualityReport · Column Shapes + Column Pair Trends · 達標：≥ 0.75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  工具比較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與同類工具比較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11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207008"/>
            <a:ext cx="141732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070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764792" y="1207008"/>
            <a:ext cx="1691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12070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56432" y="1207008"/>
            <a:ext cx="169164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2070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SDV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48072" y="1207008"/>
            <a:ext cx="169164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2070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synthpop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39712" y="1207008"/>
            <a:ext cx="169164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2070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DataSynthesizer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" y="1591056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59105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語言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764792" y="1591056"/>
            <a:ext cx="16916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64792" y="159105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56432" y="1591056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59105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148072" y="1591056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159105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39712" y="1591056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159105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47472" y="1975104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19751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GPU 加速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764792" y="1975104"/>
            <a:ext cx="16916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64792" y="197510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Numba+GPU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456432" y="1975104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197510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148072" y="1975104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197510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39712" y="1975104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197510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47472" y="2359152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3591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差分隱私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764792" y="2359152"/>
            <a:ext cx="16916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64792" y="23591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✗（可接入）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456432" y="2359152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56432" y="23591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148072" y="2359152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48072" y="23591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839712" y="2359152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9712" y="23591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PrivBayes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347472" y="2743200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2743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隱私評估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764792" y="2743200"/>
            <a:ext cx="16916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64792" y="27432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Anonymeter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3456432" y="2743200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56432" y="27432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148072" y="2743200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8072" y="27432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6839712" y="2743200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9712" y="27432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347472" y="3127248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31272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效用評估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764792" y="3127248"/>
            <a:ext cx="16916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764792" y="31272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XGBoost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3456432" y="3127248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56432" y="31272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5148072" y="3127248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48072" y="31272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6839712" y="3127248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39712" y="31272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347472" y="3511296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35112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多表支援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1764792" y="3511296"/>
            <a:ext cx="16916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764792" y="351129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✗（展平）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3456432" y="3511296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56432" y="351129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HMA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5148072" y="3511296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48072" y="351129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有限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6839712" y="3511296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39712" y="351129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79" name="Shape 77"/>
          <p:cNvSpPr/>
          <p:nvPr/>
        </p:nvSpPr>
        <p:spPr>
          <a:xfrm>
            <a:off x="347472" y="3895344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7472" y="389534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YAML 配置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1764792" y="3895344"/>
            <a:ext cx="16916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64792" y="389534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3456432" y="3895344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56432" y="389534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5148072" y="3895344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48072" y="389534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87" name="Shape 85"/>
          <p:cNvSpPr/>
          <p:nvPr/>
        </p:nvSpPr>
        <p:spPr>
          <a:xfrm>
            <a:off x="6839712" y="3895344"/>
            <a:ext cx="1691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39712" y="389534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✗</a:t>
            </a:r>
            <a:endParaRPr lang="en-US" sz="1500" dirty="0"/>
          </a:p>
        </p:txBody>
      </p:sp>
      <p:sp>
        <p:nvSpPr>
          <p:cNvPr id="89" name="Shape 87"/>
          <p:cNvSpPr/>
          <p:nvPr/>
        </p:nvSpPr>
        <p:spPr>
          <a:xfrm>
            <a:off x="347472" y="4279392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7472" y="4279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授權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1764792" y="4279392"/>
            <a:ext cx="169164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764792" y="42793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7A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MIT*</a:t>
            </a:r>
            <a:endParaRPr lang="en-US" sz="1500" dirty="0"/>
          </a:p>
        </p:txBody>
      </p:sp>
      <p:sp>
        <p:nvSpPr>
          <p:cNvPr id="93" name="Shape 91"/>
          <p:cNvSpPr/>
          <p:nvPr/>
        </p:nvSpPr>
        <p:spPr>
          <a:xfrm>
            <a:off x="3456432" y="4279392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56432" y="42793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BUSL 1.1</a:t>
            </a:r>
            <a:endParaRPr lang="en-US" sz="1500" dirty="0"/>
          </a:p>
        </p:txBody>
      </p:sp>
      <p:sp>
        <p:nvSpPr>
          <p:cNvPr id="95" name="Shape 93"/>
          <p:cNvSpPr/>
          <p:nvPr/>
        </p:nvSpPr>
        <p:spPr>
          <a:xfrm>
            <a:off x="5148072" y="4279392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48072" y="42793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GPL</a:t>
            </a:r>
            <a:endParaRPr lang="en-US" sz="1500" dirty="0"/>
          </a:p>
        </p:txBody>
      </p:sp>
      <p:sp>
        <p:nvSpPr>
          <p:cNvPr id="97" name="Shape 95"/>
          <p:cNvSpPr/>
          <p:nvPr/>
        </p:nvSpPr>
        <p:spPr>
          <a:xfrm>
            <a:off x="6839712" y="4279392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39712" y="42793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MIT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347472" y="466344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* SDV 整合部分受 BUSL 1.1 限制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  安裝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安裝與快速上手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12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43584"/>
            <a:ext cx="7863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基本安裝
</a:t>
            </a:r>
            <a:pPr indent="0" marL="0">
              <a:buNone/>
            </a:pPr>
            <a:r>
              <a:rPr lang="en-US" sz="15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petsard
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全功能（含 SDV + Jupyter）
</a:t>
            </a:r>
            <a:pPr indent="0" marL="0">
              <a:buNone/>
            </a:pPr>
            <a:r>
              <a:rPr lang="en-US" sz="15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"petsard[all]"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39319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32304"/>
            <a:ext cx="10058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3230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pandas, numpy, pyyaml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432304"/>
            <a:ext cx="39319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432304"/>
            <a:ext cx="10058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43230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06440" y="2487168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torch ≥2.8, numba, networkx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92424"/>
            <a:ext cx="39319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92424"/>
            <a:ext cx="10058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9242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3447288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anonymeter ≥1.0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sdmetrics ≥0.23, xgboost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3392424"/>
            <a:ext cx="39319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392424"/>
            <a:ext cx="10058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39242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視覺化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06440" y="3447288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plotly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708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Python 嚴格限定 3.10 或 3.11（不支援 3.12+）  ·  建議使用虛擬環境管理版本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  應用場景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五大應用場景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13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207008"/>
            <a:ext cx="27889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131673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" y="18013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醫療資料開放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" y="221284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合成電子病歷供研究機構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Anonymeter 提供 GDPR 合規依據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91840" y="1207008"/>
            <a:ext cx="27889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131673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8013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金融詐騙偵測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21284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生成合成詐騙事件資料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擴充稀少正樣本訓練集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6208" y="1207008"/>
            <a:ext cx="27889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36208" y="131673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27648" y="18013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政府 Open Data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7648" y="221284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社會經濟調查合成版本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去識別化聲明佐證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7472" y="3145536"/>
            <a:ext cx="27889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325526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8912" y="373989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模型測試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" y="415137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生產資料合成替代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模擬真實行為分佈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91840" y="3145536"/>
            <a:ext cx="27889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325526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73989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法規遵循演練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415137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 PIA 工具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個資保護審計佐證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  限制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已知限制與注意事項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14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43891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1243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 版本鎖定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56432" y="124358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嚴格要求 3.10 / 3.11，不支援 3.12+；需虛擬環境管理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1773936"/>
            <a:ext cx="43891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7552" y="18105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多表支援缺失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56432" y="181051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不直接支援多表合成，需先 denormalize 展平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77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差分隱私缺口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56432" y="23774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無內建 DP 合成器；需透過 custom_method 接入 OpenDP / PrivBayes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" y="29443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高維欄位瓶頸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56432" y="294436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自研 GC 相關矩陣 O(n²)；欄位 &gt;1,000 時效能急劇下降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43891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7552" y="35112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mpUCCs 實驗性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56432" y="351129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仍可能調整，不建議作為唯一正式合規依據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041648"/>
            <a:ext cx="43891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41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7552" y="40782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社群規模尚小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56432" y="407822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stars、1 fork（2026-06）；第三方教學與插件資源有限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  洞察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四大戰略洞察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15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303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8992" y="1188720"/>
            <a:ext cx="7571232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123444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政策流派定位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1572768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評估門檻直接對齊 PDPC，在合規報告中可直接引用，適合政府機關與受監管產業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5303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21408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8992" y="2121408"/>
            <a:ext cx="7571232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167128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端到端完整管線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2505456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大多數競品只做合成；PETsARD 整合生成+評估，適合需嚴格文件化的場景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5303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54096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8992" y="3054096"/>
            <a:ext cx="7571232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309981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mpUCCs 潛在貢獻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0432" y="3438144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若 16× 速度聲稱驗證成功並完成學術發表，將填補完整性隱私評估缺口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5303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86784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8992" y="3986784"/>
            <a:ext cx="7571232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403250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差分隱私戰略缺口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0432" y="4370832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現有框架基於攻擊模型非形式化 DP；整合 OpenDP 將大幅提升合規覆蓋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  建議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分角色建議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6402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深度研究  ·  16 /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764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2026-06-23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07008"/>
            <a:ext cx="1828800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07008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資料科學家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23160" y="1298448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先以 petsard-gaussian-copula 起步（快速＋可解釋）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23160" y="160934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必跑 Anonymeter Singling Out（唯一強制評估）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23160" y="192024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品質不足再改 CTGAN / TVAE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7899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77440"/>
            <a:ext cx="1828800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資安/合規人員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23160" y="246888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 Anonymeter 結果作為隱私評估報告核心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23160" y="2779776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mpUCCs 可輔助參考，不作為唯一合規依據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23160" y="309067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追蹤 PETsARD 差分隱私整合計畫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8229600" cy="1078992"/>
          </a:xfrm>
          <a:prstGeom prst="rect">
            <a:avLst/>
          </a:prstGeom>
          <a:solidFill>
            <a:srgbClr val="CCFBF1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47872"/>
            <a:ext cx="1828800" cy="1078992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47872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政策制定者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423160" y="363931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考慮將 PETsARD 評估框架納入資料開放標準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423160" y="3950208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投入資源讓 mpUCCs 完成學術發表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423160" y="426110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解除 Python 3.10–3.11 版本限制以利企業導入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NICS-CAPE @ Taiwan  ·  PETsARD Deep Research Report  ·  2026-06-23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謝謝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PETsARD — 隱私強化技術分析、研究與開發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04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主要來源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nics-dp/petsard  —  https://github.com/nics-dp/petsard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官方文件: https://nics-dp.github.io/petsard/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4930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PyPI: https://pypi.org/project/petsard/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8587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Anonymeter: Giomi et al., PoPETs 2023  —  https://arxiv.org/abs/2211.10459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新加坡 PDPC 合成資料指引 (2023)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PETsARD 深度研究報告</dc:title>
  <dc:subject>Privacy Enhancing Technologies Analysis Research Development</dc:subject>
  <dc:creator>NICS-CAPE Deep Research</dc:creator>
  <cp:lastModifiedBy>NICS-CAPE Deep Research</cp:lastModifiedBy>
  <cp:revision>1</cp:revision>
  <dcterms:created xsi:type="dcterms:W3CDTF">2026-06-23T01:08:59Z</dcterms:created>
  <dcterms:modified xsi:type="dcterms:W3CDTF">2026-06-23T01:08:59Z</dcterms:modified>
</cp:coreProperties>
</file>