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21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0A7A70"/>
          </a:solidFill>
          <a:ln w="12700">
            <a:solidFill>
              <a:srgbClr val="0A7A7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92608"/>
            <a:ext cx="80467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CCFBF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DEEP RESEARCH REPORT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48640" y="1280160"/>
            <a:ext cx="80467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PETsARD</a:t>
            </a:r>
            <a:endParaRPr lang="en-US" sz="5600" dirty="0"/>
          </a:p>
        </p:txBody>
      </p:sp>
      <p:sp>
        <p:nvSpPr>
          <p:cNvPr id="5" name="Text 3"/>
          <p:cNvSpPr/>
          <p:nvPr/>
        </p:nvSpPr>
        <p:spPr>
          <a:xfrm>
            <a:off x="548640" y="2249424"/>
            <a:ext cx="8046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BAE6F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Privacy Enhancing Technologies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BAE6F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Analysis, Research, and Development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548640" y="3200400"/>
            <a:ext cx="8046720" cy="27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29184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台灣開源合成資料生成與隱私評估平台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48640" y="3886200"/>
            <a:ext cx="1691640" cy="347472"/>
          </a:xfrm>
          <a:prstGeom prst="rect">
            <a:avLst/>
          </a:prstGeom>
          <a:solidFill>
            <a:srgbClr val="0D9488">
              <a:alpha val="30000"/>
            </a:srgbClr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3886200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CCFBF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合成資料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2468880" y="3886200"/>
            <a:ext cx="1691640" cy="347472"/>
          </a:xfrm>
          <a:prstGeom prst="rect">
            <a:avLst/>
          </a:prstGeom>
          <a:solidFill>
            <a:srgbClr val="0D9488">
              <a:alpha val="30000"/>
            </a:srgbClr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468880" y="3886200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CCFBF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隱私評估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389120" y="3886200"/>
            <a:ext cx="1691640" cy="347472"/>
          </a:xfrm>
          <a:prstGeom prst="rect">
            <a:avLst/>
          </a:prstGeom>
          <a:solidFill>
            <a:srgbClr val="0D9488">
              <a:alpha val="30000"/>
            </a:srgbClr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89120" y="3886200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CCFBF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NICS-CAPE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309360" y="3886200"/>
            <a:ext cx="1691640" cy="347472"/>
          </a:xfrm>
          <a:prstGeom prst="rect">
            <a:avLst/>
          </a:prstGeom>
          <a:solidFill>
            <a:srgbClr val="0D9488">
              <a:alpha val="30000"/>
            </a:srgbClr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09360" y="3886200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CCFBF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MIT License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548640" y="4343400"/>
            <a:ext cx="8046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v1.10.2  ·  2026-06-23  ·  Standard Research Mode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75488"/>
            <a:ext cx="82296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213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目錄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457200" y="1069848"/>
            <a:ext cx="8229600" cy="3657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4754880"/>
            <a:ext cx="9144000" cy="393192"/>
          </a:xfrm>
          <a:prstGeom prst="rect">
            <a:avLst/>
          </a:prstGeom>
          <a:solidFill>
            <a:srgbClr val="0D2137"/>
          </a:solidFill>
          <a:ln w="12700">
            <a:solidFill>
              <a:srgbClr val="0D213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4764024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PETsARD 深度研究  ·  2 / 17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943600" y="4764024"/>
            <a:ext cx="30175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NICS-CAPE @ Taiwan  ·  2026-06-23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57200" y="1207008"/>
            <a:ext cx="420624" cy="42062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207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969264" y="1243584"/>
            <a:ext cx="3840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背景與政策動機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57200" y="1865376"/>
            <a:ext cx="420624" cy="42062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186537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969264" y="1901952"/>
            <a:ext cx="3840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整體架構與設計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457200" y="2523744"/>
            <a:ext cx="420624" cy="42062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" y="252374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969264" y="2560320"/>
            <a:ext cx="3840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合成演算法（Synthesizer）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457200" y="3182112"/>
            <a:ext cx="420624" cy="42062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18211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969264" y="3218688"/>
            <a:ext cx="3840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評估框架（Evaluator）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457200" y="3840480"/>
            <a:ext cx="420624" cy="42062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7200" y="38404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969264" y="3877056"/>
            <a:ext cx="3840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自研 mpUCCs 演算法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4754880" y="1207008"/>
            <a:ext cx="420624" cy="42062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754880" y="1207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06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5266944" y="1243584"/>
            <a:ext cx="3840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與同類工具比較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4754880" y="1865376"/>
            <a:ext cx="420624" cy="42062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754880" y="186537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07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5266944" y="1901952"/>
            <a:ext cx="3840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安裝與快速上手</a:t>
            </a:r>
            <a:endParaRPr lang="en-US" sz="1500" dirty="0"/>
          </a:p>
        </p:txBody>
      </p:sp>
      <p:sp>
        <p:nvSpPr>
          <p:cNvPr id="28" name="Shape 26"/>
          <p:cNvSpPr/>
          <p:nvPr/>
        </p:nvSpPr>
        <p:spPr>
          <a:xfrm>
            <a:off x="4754880" y="2523744"/>
            <a:ext cx="420624" cy="42062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754880" y="252374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08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5266944" y="2560320"/>
            <a:ext cx="3840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應用場景與限制</a:t>
            </a:r>
            <a:endParaRPr lang="en-US" sz="1500" dirty="0"/>
          </a:p>
        </p:txBody>
      </p:sp>
      <p:sp>
        <p:nvSpPr>
          <p:cNvPr id="31" name="Shape 29"/>
          <p:cNvSpPr/>
          <p:nvPr/>
        </p:nvSpPr>
        <p:spPr>
          <a:xfrm>
            <a:off x="4754880" y="3182112"/>
            <a:ext cx="420624" cy="42062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754880" y="318211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09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5266944" y="3218688"/>
            <a:ext cx="3840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綜合洞察與建議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91440"/>
            <a:ext cx="2011680" cy="32918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91440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01  背景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457200" y="475488"/>
            <a:ext cx="82296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213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PETsARD 是什麼？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1069848"/>
            <a:ext cx="8229600" cy="3657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0" y="4754880"/>
            <a:ext cx="9144000" cy="393192"/>
          </a:xfrm>
          <a:prstGeom prst="rect">
            <a:avLst/>
          </a:prstGeom>
          <a:solidFill>
            <a:srgbClr val="0D2137"/>
          </a:solidFill>
          <a:ln w="12700">
            <a:solidFill>
              <a:srgbClr val="0D213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4764024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PETsARD 深度研究  ·  3 / 17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943600" y="4764024"/>
            <a:ext cx="30175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NICS-CAPE @ Taiwan  ·  2026-06-23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57200" y="1170432"/>
            <a:ext cx="8229600" cy="658368"/>
          </a:xfrm>
          <a:prstGeom prst="rect">
            <a:avLst/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94360" y="1188720"/>
            <a:ext cx="795528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7A70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PETsARD</a:t>
            </a:r>
            <a:pPr indent="0" marL="0">
              <a:buNone/>
            </a:pPr>
            <a:r>
              <a:rPr lang="en-US" sz="1500" dirty="0">
                <a:solidFill>
                  <a:srgbClr val="475569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（/pəˈtɑrd/）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 ＝  Privacy Enhancing Technologies Analysis, Research, and Development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457200" y="1965960"/>
            <a:ext cx="2651760" cy="2450592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205740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🏛️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457200" y="2578608"/>
            <a:ext cx="2651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D213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政策委託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548640" y="2999232"/>
            <a:ext cx="2468880" cy="12618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475569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數位發展部（moda）委託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475569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NICS-CAPE 開發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3291840" y="1965960"/>
            <a:ext cx="2651760" cy="2450592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291840" y="205740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🎯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3291840" y="2578608"/>
            <a:ext cx="2651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D213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核心目標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3383280" y="2999232"/>
            <a:ext cx="2468880" cy="12618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475569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標準化、可驗證、開源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475569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合成資料工具鏈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6126480" y="1965960"/>
            <a:ext cx="2651760" cy="2450592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126480" y="205740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📋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6126480" y="2578608"/>
            <a:ext cx="2651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D213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合規導向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6217920" y="2999232"/>
            <a:ext cx="2468880" cy="12618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475569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評估門檻對齊新加坡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475569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PDPC 2023 / GDPR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91440"/>
            <a:ext cx="2011680" cy="32918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91440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01  背景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457200" y="475488"/>
            <a:ext cx="82296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213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版本演進與現況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1069848"/>
            <a:ext cx="8229600" cy="3657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0" y="4754880"/>
            <a:ext cx="9144000" cy="393192"/>
          </a:xfrm>
          <a:prstGeom prst="rect">
            <a:avLst/>
          </a:prstGeom>
          <a:solidFill>
            <a:srgbClr val="0D2137"/>
          </a:solidFill>
          <a:ln w="12700">
            <a:solidFill>
              <a:srgbClr val="0D213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4764024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PETsARD 深度研究  ·  4 / 17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943600" y="4764024"/>
            <a:ext cx="30175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NICS-CAPE @ Taiwan  ·  2026-06-23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914400" y="2743200"/>
            <a:ext cx="7315200" cy="457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12648" y="2633472"/>
            <a:ext cx="237744" cy="237744"/>
          </a:xfrm>
          <a:prstGeom prst="oval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-91440" y="1170432"/>
            <a:ext cx="1645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-137160" y="1536192"/>
            <a:ext cx="1737360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475569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數位發展部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475569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成立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722376" y="1828800"/>
            <a:ext cx="18288" cy="82296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441448" y="2633472"/>
            <a:ext cx="237744" cy="237744"/>
          </a:xfrm>
          <a:prstGeom prst="oval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737360" y="1170432"/>
            <a:ext cx="1645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D948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1691640" y="1536192"/>
            <a:ext cx="1737360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475569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委託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475569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NICS-CAPE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2551176" y="1828800"/>
            <a:ext cx="18288" cy="82296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270248" y="2633472"/>
            <a:ext cx="237744" cy="237744"/>
          </a:xfrm>
          <a:prstGeom prst="oval">
            <a:avLst/>
          </a:prstGeom>
          <a:solidFill>
            <a:srgbClr val="0A7A70"/>
          </a:solidFill>
          <a:ln w="12700">
            <a:solidFill>
              <a:srgbClr val="0A7A7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566160" y="1170432"/>
            <a:ext cx="1645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A7A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2024-12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3520440" y="1536192"/>
            <a:ext cx="1737360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475569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v1.0 交付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475569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moda-gov-tw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4379976" y="1828800"/>
            <a:ext cx="18288" cy="82296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099048" y="2633472"/>
            <a:ext cx="237744" cy="237744"/>
          </a:xfrm>
          <a:prstGeom prst="oval">
            <a:avLst/>
          </a:prstGeom>
          <a:solidFill>
            <a:srgbClr val="0A7A70"/>
          </a:solidFill>
          <a:ln w="12700">
            <a:solidFill>
              <a:srgbClr val="0A7A7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394960" y="1170432"/>
            <a:ext cx="1645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A7A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2025-05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5349240" y="1536192"/>
            <a:ext cx="1737360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475569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v1.3.1 遷移至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475569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nics-dp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6208776" y="1828800"/>
            <a:ext cx="18288" cy="82296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927848" y="2633472"/>
            <a:ext cx="237744" cy="237744"/>
          </a:xfrm>
          <a:prstGeom prst="oval">
            <a:avLst/>
          </a:prstGeom>
          <a:solidFill>
            <a:srgbClr val="0D2137"/>
          </a:solidFill>
          <a:ln w="12700">
            <a:solidFill>
              <a:srgbClr val="0D213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223760" y="1170432"/>
            <a:ext cx="1645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D21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2026-06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7178040" y="1536192"/>
            <a:ext cx="1737360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475569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v1.10.2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475569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✅ Stable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475569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42 版本</a:t>
            </a:r>
            <a:endParaRPr lang="en-US" sz="1500" dirty="0"/>
          </a:p>
        </p:txBody>
      </p:sp>
      <p:sp>
        <p:nvSpPr>
          <p:cNvPr id="29" name="Shape 27"/>
          <p:cNvSpPr/>
          <p:nvPr/>
        </p:nvSpPr>
        <p:spPr>
          <a:xfrm>
            <a:off x="8037576" y="1828800"/>
            <a:ext cx="18288" cy="82296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57200" y="3200400"/>
            <a:ext cx="1920240" cy="1261872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57200" y="3291840"/>
            <a:ext cx="19202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D948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v1.10.2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457200" y="3877056"/>
            <a:ext cx="1920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475569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最新版本</a:t>
            </a:r>
            <a:endParaRPr lang="en-US" sz="1500" dirty="0"/>
          </a:p>
        </p:txBody>
      </p:sp>
      <p:sp>
        <p:nvSpPr>
          <p:cNvPr id="33" name="Shape 31"/>
          <p:cNvSpPr/>
          <p:nvPr/>
        </p:nvSpPr>
        <p:spPr>
          <a:xfrm>
            <a:off x="2560320" y="3200400"/>
            <a:ext cx="1920240" cy="1261872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560320" y="3291840"/>
            <a:ext cx="19202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D948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2200" dirty="0"/>
          </a:p>
        </p:txBody>
      </p:sp>
      <p:sp>
        <p:nvSpPr>
          <p:cNvPr id="35" name="Text 33"/>
          <p:cNvSpPr/>
          <p:nvPr/>
        </p:nvSpPr>
        <p:spPr>
          <a:xfrm>
            <a:off x="2560320" y="3877056"/>
            <a:ext cx="1920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475569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累計版本</a:t>
            </a:r>
            <a:endParaRPr lang="en-US" sz="1500" dirty="0"/>
          </a:p>
        </p:txBody>
      </p:sp>
      <p:sp>
        <p:nvSpPr>
          <p:cNvPr id="36" name="Shape 34"/>
          <p:cNvSpPr/>
          <p:nvPr/>
        </p:nvSpPr>
        <p:spPr>
          <a:xfrm>
            <a:off x="4663440" y="3200400"/>
            <a:ext cx="1920240" cy="1261872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663440" y="3291840"/>
            <a:ext cx="19202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D948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MIT</a:t>
            </a:r>
            <a:endParaRPr lang="en-US" sz="2200" dirty="0"/>
          </a:p>
        </p:txBody>
      </p:sp>
      <p:sp>
        <p:nvSpPr>
          <p:cNvPr id="38" name="Text 36"/>
          <p:cNvSpPr/>
          <p:nvPr/>
        </p:nvSpPr>
        <p:spPr>
          <a:xfrm>
            <a:off x="4663440" y="3877056"/>
            <a:ext cx="1920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475569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授權</a:t>
            </a:r>
            <a:endParaRPr lang="en-US" sz="1500" dirty="0"/>
          </a:p>
        </p:txBody>
      </p:sp>
      <p:sp>
        <p:nvSpPr>
          <p:cNvPr id="39" name="Shape 37"/>
          <p:cNvSpPr/>
          <p:nvPr/>
        </p:nvSpPr>
        <p:spPr>
          <a:xfrm>
            <a:off x="6766560" y="3200400"/>
            <a:ext cx="1920240" cy="1261872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766560" y="3291840"/>
            <a:ext cx="19202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D948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Stable</a:t>
            </a:r>
            <a:endParaRPr lang="en-US" sz="2200" dirty="0"/>
          </a:p>
        </p:txBody>
      </p:sp>
      <p:sp>
        <p:nvSpPr>
          <p:cNvPr id="41" name="Text 39"/>
          <p:cNvSpPr/>
          <p:nvPr/>
        </p:nvSpPr>
        <p:spPr>
          <a:xfrm>
            <a:off x="6766560" y="3877056"/>
            <a:ext cx="1920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475569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PyPI 狀態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91440"/>
            <a:ext cx="2011680" cy="32918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91440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02  架構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457200" y="475488"/>
            <a:ext cx="82296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213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八模組管線架構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1069848"/>
            <a:ext cx="8229600" cy="3657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0" y="4754880"/>
            <a:ext cx="9144000" cy="393192"/>
          </a:xfrm>
          <a:prstGeom prst="rect">
            <a:avLst/>
          </a:prstGeom>
          <a:solidFill>
            <a:srgbClr val="0D2137"/>
          </a:solidFill>
          <a:ln w="12700">
            <a:solidFill>
              <a:srgbClr val="0D213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4764024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PETsARD 深度研究  ·  5 / 17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943600" y="4764024"/>
            <a:ext cx="30175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NICS-CAPE @ Taiwan  ·  2026-06-23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256032" y="1170432"/>
            <a:ext cx="1554480" cy="1207008"/>
          </a:xfrm>
          <a:prstGeom prst="rect">
            <a:avLst/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56032" y="1207008"/>
            <a:ext cx="15544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A7A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Loader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256032" y="1627632"/>
            <a:ext cx="1554480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475569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CSV/Excel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475569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benchmark://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810512" y="1499616"/>
            <a:ext cx="16459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D9488"/>
                </a:solidFill>
              </a:rPr>
              <a:t>→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1975104" y="1170432"/>
            <a:ext cx="1554480" cy="1207008"/>
          </a:xfrm>
          <a:prstGeom prst="rect">
            <a:avLst/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975104" y="1207008"/>
            <a:ext cx="15544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A7A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Splitter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975104" y="1627632"/>
            <a:ext cx="1554480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475569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80/20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475569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訓練/測試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3529584" y="1499616"/>
            <a:ext cx="16459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D9488"/>
                </a:solidFill>
              </a:rPr>
              <a:t>→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3694176" y="1170432"/>
            <a:ext cx="1554480" cy="1207008"/>
          </a:xfrm>
          <a:prstGeom prst="rect">
            <a:avLst/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94176" y="1207008"/>
            <a:ext cx="15544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A7A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Preprocessor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3694176" y="1627632"/>
            <a:ext cx="1554480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475569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缺失值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475569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編碼/縮放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5248656" y="1499616"/>
            <a:ext cx="16459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D9488"/>
                </a:solidFill>
              </a:rPr>
              <a:t>→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5413248" y="1170432"/>
            <a:ext cx="1554480" cy="1207008"/>
          </a:xfrm>
          <a:prstGeom prst="rect">
            <a:avLst/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413248" y="1207008"/>
            <a:ext cx="15544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A7A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Synthesizer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5413248" y="1627632"/>
            <a:ext cx="1554480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475569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合成演算法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475569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見下節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967728" y="1499616"/>
            <a:ext cx="16459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D9488"/>
                </a:solidFill>
              </a:rPr>
              <a:t>→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7132320" y="1170432"/>
            <a:ext cx="1554480" cy="1207008"/>
          </a:xfrm>
          <a:prstGeom prst="rect">
            <a:avLst/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132320" y="1207008"/>
            <a:ext cx="15544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A7A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Postprocessor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7132320" y="1627632"/>
            <a:ext cx="1554480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475569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逆轉換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475569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還原格式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8485632" y="18288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D9488"/>
                </a:solidFill>
              </a:rPr>
              <a:t>↓</a:t>
            </a:r>
            <a:endParaRPr lang="en-US" sz="2000" dirty="0"/>
          </a:p>
        </p:txBody>
      </p:sp>
      <p:sp>
        <p:nvSpPr>
          <p:cNvPr id="29" name="Shape 27"/>
          <p:cNvSpPr/>
          <p:nvPr/>
        </p:nvSpPr>
        <p:spPr>
          <a:xfrm>
            <a:off x="8485632" y="2468880"/>
            <a:ext cx="1737360" cy="1207008"/>
          </a:xfrm>
          <a:prstGeom prst="rect">
            <a:avLst/>
          </a:prstGeom>
          <a:solidFill>
            <a:srgbClr val="EFF6FF"/>
          </a:solidFill>
          <a:ln w="12700">
            <a:solidFill>
              <a:srgbClr val="93C5FD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485632" y="2505456"/>
            <a:ext cx="17373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Constrainer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8485632" y="2926080"/>
            <a:ext cx="1737360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475569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業務約束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475569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NaN groups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8211312" y="2889504"/>
            <a:ext cx="29260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93C5FD"/>
                </a:solidFill>
              </a:rPr>
              <a:t>←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6455664" y="2468880"/>
            <a:ext cx="1737360" cy="1207008"/>
          </a:xfrm>
          <a:prstGeom prst="rect">
            <a:avLst/>
          </a:prstGeom>
          <a:solidFill>
            <a:srgbClr val="EFF6FF"/>
          </a:solidFill>
          <a:ln w="12700">
            <a:solidFill>
              <a:srgbClr val="93C5FD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55664" y="2505456"/>
            <a:ext cx="17373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Describer</a:t>
            </a:r>
            <a:endParaRPr lang="en-US" sz="1500" dirty="0"/>
          </a:p>
        </p:txBody>
      </p:sp>
      <p:sp>
        <p:nvSpPr>
          <p:cNvPr id="35" name="Text 33"/>
          <p:cNvSpPr/>
          <p:nvPr/>
        </p:nvSpPr>
        <p:spPr>
          <a:xfrm>
            <a:off x="6455664" y="2926080"/>
            <a:ext cx="1737360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475569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統計描述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475569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Schema 文件</a:t>
            </a:r>
            <a:endParaRPr lang="en-US" sz="1500" dirty="0"/>
          </a:p>
        </p:txBody>
      </p:sp>
      <p:sp>
        <p:nvSpPr>
          <p:cNvPr id="36" name="Text 34"/>
          <p:cNvSpPr/>
          <p:nvPr/>
        </p:nvSpPr>
        <p:spPr>
          <a:xfrm>
            <a:off x="6181344" y="2889504"/>
            <a:ext cx="29260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93C5FD"/>
                </a:solidFill>
              </a:rPr>
              <a:t>←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4425696" y="2468880"/>
            <a:ext cx="1737360" cy="1207008"/>
          </a:xfrm>
          <a:prstGeom prst="rect">
            <a:avLst/>
          </a:prstGeom>
          <a:solidFill>
            <a:srgbClr val="EFF6FF"/>
          </a:solidFill>
          <a:ln w="12700">
            <a:solidFill>
              <a:srgbClr val="93C5FD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425696" y="2505456"/>
            <a:ext cx="17373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Evaluator</a:t>
            </a:r>
            <a:endParaRPr lang="en-US" sz="1500" dirty="0"/>
          </a:p>
        </p:txBody>
      </p:sp>
      <p:sp>
        <p:nvSpPr>
          <p:cNvPr id="39" name="Text 37"/>
          <p:cNvSpPr/>
          <p:nvPr/>
        </p:nvSpPr>
        <p:spPr>
          <a:xfrm>
            <a:off x="4425696" y="2926080"/>
            <a:ext cx="1737360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475569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隱私/保真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475569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效用評估</a:t>
            </a:r>
            <a:endParaRPr lang="en-US" sz="1500" dirty="0"/>
          </a:p>
        </p:txBody>
      </p:sp>
      <p:sp>
        <p:nvSpPr>
          <p:cNvPr id="40" name="Text 38"/>
          <p:cNvSpPr/>
          <p:nvPr/>
        </p:nvSpPr>
        <p:spPr>
          <a:xfrm>
            <a:off x="4151376" y="2889504"/>
            <a:ext cx="29260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93C5FD"/>
                </a:solidFill>
              </a:rPr>
              <a:t>←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2395728" y="2468880"/>
            <a:ext cx="1737360" cy="1207008"/>
          </a:xfrm>
          <a:prstGeom prst="rect">
            <a:avLst/>
          </a:prstGeom>
          <a:solidFill>
            <a:srgbClr val="EFF6FF"/>
          </a:solidFill>
          <a:ln w="12700">
            <a:solidFill>
              <a:srgbClr val="93C5FD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395728" y="2505456"/>
            <a:ext cx="17373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Reporter</a:t>
            </a:r>
            <a:endParaRPr lang="en-US" sz="1500" dirty="0"/>
          </a:p>
        </p:txBody>
      </p:sp>
      <p:sp>
        <p:nvSpPr>
          <p:cNvPr id="43" name="Text 41"/>
          <p:cNvSpPr/>
          <p:nvPr/>
        </p:nvSpPr>
        <p:spPr>
          <a:xfrm>
            <a:off x="2395728" y="2926080"/>
            <a:ext cx="1737360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475569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輸出報告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475569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四種粒度</a:t>
            </a:r>
            <a:endParaRPr lang="en-US" sz="1500" dirty="0"/>
          </a:p>
        </p:txBody>
      </p:sp>
      <p:sp>
        <p:nvSpPr>
          <p:cNvPr id="44" name="Shape 42"/>
          <p:cNvSpPr/>
          <p:nvPr/>
        </p:nvSpPr>
        <p:spPr>
          <a:xfrm>
            <a:off x="256032" y="3822192"/>
            <a:ext cx="8686800" cy="438912"/>
          </a:xfrm>
          <a:prstGeom prst="rect">
            <a:avLst/>
          </a:prstGeom>
          <a:solidFill>
            <a:srgbClr val="0D2137"/>
          </a:solidFill>
          <a:ln w="12700">
            <a:solidFill>
              <a:srgbClr val="0D213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74320" y="3822192"/>
            <a:ext cx="8650224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Executor  —  run() · get_result() · get_timing() · is_execution_completed() · get_inferred_schema()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91440"/>
            <a:ext cx="2011680" cy="32918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91440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03  合成演算法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457200" y="475488"/>
            <a:ext cx="82296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213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Synthesizer：四層合成選項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1069848"/>
            <a:ext cx="8229600" cy="3657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0" y="4754880"/>
            <a:ext cx="9144000" cy="393192"/>
          </a:xfrm>
          <a:prstGeom prst="rect">
            <a:avLst/>
          </a:prstGeom>
          <a:solidFill>
            <a:srgbClr val="0D2137"/>
          </a:solidFill>
          <a:ln w="12700">
            <a:solidFill>
              <a:srgbClr val="0D213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4764024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PETsARD 深度研究  ·  6 / 17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943600" y="4764024"/>
            <a:ext cx="30175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NICS-CAPE @ Taiwan  ·  2026-06-23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57200" y="1170432"/>
            <a:ext cx="3840480" cy="2542032"/>
          </a:xfrm>
          <a:prstGeom prst="rect">
            <a:avLst/>
          </a:prstGeom>
          <a:solidFill>
            <a:srgbClr val="F8FAFC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7200" y="1170432"/>
            <a:ext cx="3840480" cy="38404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1170432"/>
            <a:ext cx="3749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🔬 自研 Gaussian Copula（預設）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548640" y="1664208"/>
            <a:ext cx="36576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475569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邊際轉換→高斯化→相關學習→取樣→逆轉換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48640" y="2103120"/>
            <a:ext cx="36576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475569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Numba JIT 加速（2–3×，極端 10–100×）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548640" y="2542032"/>
            <a:ext cx="36576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475569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PyTorch GPU 支援（≥50,000 行自動啟動）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548640" y="2980944"/>
            <a:ext cx="36576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475569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⚠ 線性相關假設；欄位 &gt;1000 時 O(n²)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4572000" y="1170432"/>
            <a:ext cx="4114800" cy="2542032"/>
          </a:xfrm>
          <a:prstGeom prst="rect">
            <a:avLst/>
          </a:prstGeom>
          <a:solidFill>
            <a:srgbClr val="F8FAFC"/>
          </a:solidFill>
          <a:ln w="12700">
            <a:solidFill>
              <a:srgbClr val="93C5F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572000" y="1170432"/>
            <a:ext cx="4114800" cy="384048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617720" y="1170432"/>
            <a:ext cx="4023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🔌 SDV 整合算法（petsard[all]）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4645152" y="1664208"/>
            <a:ext cx="1554480" cy="347472"/>
          </a:xfrm>
          <a:prstGeom prst="rect">
            <a:avLst/>
          </a:prstGeom>
          <a:solidFill>
            <a:srgbClr val="DBEAFE"/>
          </a:solidFill>
          <a:ln w="12700">
            <a:solidFill>
              <a:srgbClr val="93C5F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645152" y="1682496"/>
            <a:ext cx="15544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GaussianCopula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263640" y="1682496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75569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快速、統計穩健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4645152" y="2103120"/>
            <a:ext cx="1554480" cy="347472"/>
          </a:xfrm>
          <a:prstGeom prst="rect">
            <a:avLst/>
          </a:prstGeom>
          <a:solidFill>
            <a:srgbClr val="DBEAFE"/>
          </a:solidFill>
          <a:ln w="12700">
            <a:solidFill>
              <a:srgbClr val="93C5F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645152" y="2121408"/>
            <a:ext cx="15544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CTGAN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263640" y="2121408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75569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GAN-based，複雜多峰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4645152" y="2542032"/>
            <a:ext cx="1554480" cy="347472"/>
          </a:xfrm>
          <a:prstGeom prst="rect">
            <a:avLst/>
          </a:prstGeom>
          <a:solidFill>
            <a:srgbClr val="DBEAFE"/>
          </a:solidFill>
          <a:ln w="12700">
            <a:solidFill>
              <a:srgbClr val="93C5FD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645152" y="2560320"/>
            <a:ext cx="15544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CopulaGAN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6263640" y="256032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75569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混合型，beta 分佈</a:t>
            </a:r>
            <a:endParaRPr lang="en-US" sz="1500" dirty="0"/>
          </a:p>
        </p:txBody>
      </p:sp>
      <p:sp>
        <p:nvSpPr>
          <p:cNvPr id="28" name="Shape 26"/>
          <p:cNvSpPr/>
          <p:nvPr/>
        </p:nvSpPr>
        <p:spPr>
          <a:xfrm>
            <a:off x="4645152" y="2980944"/>
            <a:ext cx="1554480" cy="347472"/>
          </a:xfrm>
          <a:prstGeom prst="rect">
            <a:avLst/>
          </a:prstGeom>
          <a:solidFill>
            <a:srgbClr val="DBEAFE"/>
          </a:solidFill>
          <a:ln w="12700">
            <a:solidFill>
              <a:srgbClr val="93C5F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45152" y="2999232"/>
            <a:ext cx="15544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TVAE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6263640" y="29992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75569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VAE-based，訓練穩定</a:t>
            </a:r>
            <a:endParaRPr lang="en-US" sz="1500" dirty="0"/>
          </a:p>
        </p:txBody>
      </p:sp>
      <p:sp>
        <p:nvSpPr>
          <p:cNvPr id="31" name="Shape 29"/>
          <p:cNvSpPr/>
          <p:nvPr/>
        </p:nvSpPr>
        <p:spPr>
          <a:xfrm>
            <a:off x="457200" y="3858768"/>
            <a:ext cx="8229600" cy="475488"/>
          </a:xfrm>
          <a:prstGeom prst="rect">
            <a:avLst/>
          </a:prstGeom>
          <a:solidFill>
            <a:srgbClr val="0D2137"/>
          </a:solidFill>
          <a:ln w="12700">
            <a:solidFill>
              <a:srgbClr val="0D2137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02920" y="3858768"/>
            <a:ext cx="81381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🔧 custom_method — module_path + class_name 接入任意第三方演算法  |  📁 custom_data — 匯入外部合成資料純做評估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457200" y="4425696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59E0B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⚠ SDV 整合部分受 BUSL 1.1 限制，商業競爭用途須留意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91440"/>
            <a:ext cx="2011680" cy="32918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91440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04  評估框架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457200" y="475488"/>
            <a:ext cx="82296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213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Evaluator：四維度評估框架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1069848"/>
            <a:ext cx="8229600" cy="3657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0" y="4754880"/>
            <a:ext cx="9144000" cy="393192"/>
          </a:xfrm>
          <a:prstGeom prst="rect">
            <a:avLst/>
          </a:prstGeom>
          <a:solidFill>
            <a:srgbClr val="0D2137"/>
          </a:solidFill>
          <a:ln w="12700">
            <a:solidFill>
              <a:srgbClr val="0D213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4764024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PETsARD 深度研究  ·  7 / 17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943600" y="4764024"/>
            <a:ext cx="30175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NICS-CAPE @ Taiwan  ·  2026-06-23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57200" y="1188720"/>
            <a:ext cx="3931920" cy="1554480"/>
          </a:xfrm>
          <a:prstGeom prst="rect">
            <a:avLst/>
          </a:prstGeom>
          <a:solidFill>
            <a:srgbClr val="F1F5F9"/>
          </a:solidFill>
          <a:ln w="12700">
            <a:solidFill>
              <a:srgbClr val="47556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7200" y="1188720"/>
            <a:ext cx="3931920" cy="45720"/>
          </a:xfrm>
          <a:prstGeom prst="rect">
            <a:avLst/>
          </a:prstGeom>
          <a:solidFill>
            <a:srgbClr val="475569"/>
          </a:solidFill>
          <a:ln w="12700">
            <a:solidFill>
              <a:srgbClr val="47556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1280160"/>
            <a:ext cx="371246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75569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資料有效性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66928" y="1691640"/>
            <a:ext cx="371246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75569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工具：SDMetrics DiagnosticReport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66928" y="2103120"/>
            <a:ext cx="1554480" cy="384048"/>
          </a:xfrm>
          <a:prstGeom prst="rect">
            <a:avLst/>
          </a:prstGeom>
          <a:solidFill>
            <a:srgbClr val="475569"/>
          </a:solidFill>
          <a:ln w="12700">
            <a:solidFill>
              <a:srgbClr val="47556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210312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達標：≈ 1.0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4754880" y="1188720"/>
            <a:ext cx="3931920" cy="1554480"/>
          </a:xfrm>
          <a:prstGeom prst="rect">
            <a:avLst/>
          </a:prstGeom>
          <a:solidFill>
            <a:srgbClr val="FEF2F2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754880" y="1188720"/>
            <a:ext cx="3931920" cy="4572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864608" y="1280160"/>
            <a:ext cx="371246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F4444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隱私保護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4864608" y="1691640"/>
            <a:ext cx="371246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75569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工具：Anonymeter（GDPR 三維）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4864608" y="2103120"/>
            <a:ext cx="1554480" cy="384048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864608" y="210312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達標：&lt; 0.09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457200" y="2880360"/>
            <a:ext cx="3931920" cy="1554480"/>
          </a:xfrm>
          <a:prstGeom prst="rect">
            <a:avLst/>
          </a:prstGeom>
          <a:solidFill>
            <a:srgbClr val="CCFBF1"/>
          </a:solidFill>
          <a:ln w="12700">
            <a:solidFill>
              <a:srgbClr val="0A7A7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57200" y="2880360"/>
            <a:ext cx="3931920" cy="45720"/>
          </a:xfrm>
          <a:prstGeom prst="rect">
            <a:avLst/>
          </a:prstGeom>
          <a:solidFill>
            <a:srgbClr val="0A7A70"/>
          </a:solidFill>
          <a:ln w="12700">
            <a:solidFill>
              <a:srgbClr val="0A7A7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66928" y="2971800"/>
            <a:ext cx="371246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7A70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保真度 Fidelity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566928" y="3383280"/>
            <a:ext cx="371246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75569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工具：SDMetrics QualityReport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566928" y="3794760"/>
            <a:ext cx="1554480" cy="384048"/>
          </a:xfrm>
          <a:prstGeom prst="rect">
            <a:avLst/>
          </a:prstGeom>
          <a:solidFill>
            <a:srgbClr val="0A7A70"/>
          </a:solidFill>
          <a:ln w="12700">
            <a:solidFill>
              <a:srgbClr val="0A7A7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66928" y="379476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達標：≥ 0.75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4754880" y="2880360"/>
            <a:ext cx="3931920" cy="1554480"/>
          </a:xfrm>
          <a:prstGeom prst="rect">
            <a:avLst/>
          </a:prstGeom>
          <a:solidFill>
            <a:srgbClr val="EFF6FF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754880" y="2880360"/>
            <a:ext cx="3931920" cy="45720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864608" y="2971800"/>
            <a:ext cx="371246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4ED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效用 Utility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4864608" y="3383280"/>
            <a:ext cx="371246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75569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工具：XGBoost + K-means（TSTR）</a:t>
            </a:r>
            <a:endParaRPr lang="en-US" sz="1500" dirty="0"/>
          </a:p>
        </p:txBody>
      </p:sp>
      <p:sp>
        <p:nvSpPr>
          <p:cNvPr id="31" name="Shape 29"/>
          <p:cNvSpPr/>
          <p:nvPr/>
        </p:nvSpPr>
        <p:spPr>
          <a:xfrm>
            <a:off x="4864608" y="3794760"/>
            <a:ext cx="1554480" cy="384048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864608" y="379476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達標：F1 ≥ 0.7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91440"/>
            <a:ext cx="2011680" cy="32918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91440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04  評估框架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457200" y="475488"/>
            <a:ext cx="82296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213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隱私評估：Anonymeter GDPR 三維框架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1069848"/>
            <a:ext cx="8229600" cy="3657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0" y="4754880"/>
            <a:ext cx="9144000" cy="393192"/>
          </a:xfrm>
          <a:prstGeom prst="rect">
            <a:avLst/>
          </a:prstGeom>
          <a:solidFill>
            <a:srgbClr val="0D2137"/>
          </a:solidFill>
          <a:ln w="12700">
            <a:solidFill>
              <a:srgbClr val="0D213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4764024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PETsARD 深度研究  ·  8 / 17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943600" y="4764024"/>
            <a:ext cx="30175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NICS-CAPE @ Taiwan  ·  2026-06-23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57200" y="1170432"/>
            <a:ext cx="8229600" cy="384048"/>
          </a:xfrm>
          <a:prstGeom prst="rect">
            <a:avLst/>
          </a:prstGeom>
          <a:solidFill>
            <a:srgbClr val="FEF2F2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1170432"/>
            <a:ext cx="8138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F4444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依據：EU Article 29 WP29 2014 · Giomi et al. PoPETs 2023 · 法國 CNIL 背書  |  門檻 &lt;0.09 來自新加坡 PDPC 2023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457200" y="1719072"/>
            <a:ext cx="2651760" cy="2633472"/>
          </a:xfrm>
          <a:prstGeom prst="rect">
            <a:avLst/>
          </a:prstGeom>
          <a:solidFill>
            <a:srgbClr val="F8FAFC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" y="1719072"/>
            <a:ext cx="2651760" cy="45720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1719072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Singling Out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48640" y="2240280"/>
            <a:ext cx="246888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475569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能否以欄位組合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475569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唯一辨識個人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640080" y="3127248"/>
            <a:ext cx="2286000" cy="347472"/>
          </a:xfrm>
          <a:prstGeom prst="rect">
            <a:avLst/>
          </a:prstGeom>
          <a:solidFill>
            <a:srgbClr val="EFF6FF"/>
          </a:solidFill>
          <a:ln w="12700">
            <a:solidFill>
              <a:srgbClr val="93C5F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3127248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anonymeter-singlingout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1051560" y="3584448"/>
            <a:ext cx="1463040" cy="329184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51560" y="3584448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強制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3291840" y="1719072"/>
            <a:ext cx="2651760" cy="2633472"/>
          </a:xfrm>
          <a:prstGeom prst="rect">
            <a:avLst/>
          </a:prstGeom>
          <a:solidFill>
            <a:srgbClr val="F8FAFC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291840" y="1719072"/>
            <a:ext cx="2651760" cy="4572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291840" y="1719072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Linkability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3383280" y="2240280"/>
            <a:ext cx="246888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475569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能否跨資料集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475569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連結同一個人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3474720" y="3127248"/>
            <a:ext cx="2286000" cy="347472"/>
          </a:xfrm>
          <a:prstGeom prst="rect">
            <a:avLst/>
          </a:prstGeom>
          <a:solidFill>
            <a:srgbClr val="EFF6FF"/>
          </a:solidFill>
          <a:ln w="12700">
            <a:solidFill>
              <a:srgbClr val="93C5F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474720" y="3127248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anonymeter-linkability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3886200" y="3584448"/>
            <a:ext cx="1463040" cy="32918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886200" y="3584448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情境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6126480" y="1719072"/>
            <a:ext cx="2651760" cy="2633472"/>
          </a:xfrm>
          <a:prstGeom prst="rect">
            <a:avLst/>
          </a:prstGeom>
          <a:solidFill>
            <a:srgbClr val="F8FAFC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126480" y="1719072"/>
            <a:ext cx="2651760" cy="4572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126480" y="1719072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Inference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6217920" y="2240280"/>
            <a:ext cx="246888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475569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能否從輔助欄位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475569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推導敏感欄位</a:t>
            </a:r>
            <a:endParaRPr lang="en-US" sz="1500" dirty="0"/>
          </a:p>
        </p:txBody>
      </p:sp>
      <p:sp>
        <p:nvSpPr>
          <p:cNvPr id="31" name="Shape 29"/>
          <p:cNvSpPr/>
          <p:nvPr/>
        </p:nvSpPr>
        <p:spPr>
          <a:xfrm>
            <a:off x="6309360" y="3127248"/>
            <a:ext cx="2286000" cy="347472"/>
          </a:xfrm>
          <a:prstGeom prst="rect">
            <a:avLst/>
          </a:prstGeom>
          <a:solidFill>
            <a:srgbClr val="EFF6FF"/>
          </a:solidFill>
          <a:ln w="12700">
            <a:solidFill>
              <a:srgbClr val="93C5FD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309360" y="3127248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anonymeter-inference</a:t>
            </a:r>
            <a:endParaRPr lang="en-US" sz="1500" dirty="0"/>
          </a:p>
        </p:txBody>
      </p:sp>
      <p:sp>
        <p:nvSpPr>
          <p:cNvPr id="33" name="Shape 31"/>
          <p:cNvSpPr/>
          <p:nvPr/>
        </p:nvSpPr>
        <p:spPr>
          <a:xfrm>
            <a:off x="6720840" y="3584448"/>
            <a:ext cx="1463040" cy="32918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720840" y="3584448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情境</a:t>
            </a:r>
            <a:endParaRPr lang="en-US" sz="1500" dirty="0"/>
          </a:p>
        </p:txBody>
      </p:sp>
      <p:sp>
        <p:nvSpPr>
          <p:cNvPr id="35" name="Shape 33"/>
          <p:cNvSpPr/>
          <p:nvPr/>
        </p:nvSpPr>
        <p:spPr>
          <a:xfrm>
            <a:off x="457200" y="4370832"/>
            <a:ext cx="8229600" cy="347472"/>
          </a:xfrm>
          <a:prstGeom prst="rect">
            <a:avLst/>
          </a:prstGeom>
          <a:solidFill>
            <a:srgbClr val="0D2137"/>
          </a:solidFill>
          <a:ln w="12700">
            <a:solidFill>
              <a:srgbClr val="0D213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02920" y="4370832"/>
            <a:ext cx="8138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risk = ( 主攻擊率 − 基準攻擊率 ) ÷ ( 1 − 基準攻擊率 )    達標：risk &lt; 0.09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21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754880"/>
            <a:ext cx="9144000" cy="393192"/>
          </a:xfrm>
          <a:prstGeom prst="rect">
            <a:avLst/>
          </a:prstGeom>
          <a:solidFill>
            <a:srgbClr val="0D2137"/>
          </a:solidFill>
          <a:ln w="12700">
            <a:solidFill>
              <a:srgbClr val="0D213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4764024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PETsARD 深度研究  ·  9 / 17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943600" y="4764024"/>
            <a:ext cx="30175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NICS-CAPE @ Taiwan  ·  2026-06-23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"/>
            <a:ext cx="3108960" cy="38404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3716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05  自研 mpUCCs 演算法（實驗性）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57200" y="621792"/>
            <a:ext cx="82296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mpUCCs</a:t>
            </a:r>
            <a:endParaRPr lang="en-US" sz="4200" dirty="0"/>
          </a:p>
        </p:txBody>
      </p:sp>
      <p:sp>
        <p:nvSpPr>
          <p:cNvPr id="8" name="Text 6"/>
          <p:cNvSpPr/>
          <p:nvPr/>
        </p:nvSpPr>
        <p:spPr>
          <a:xfrm>
            <a:off x="457200" y="1325880"/>
            <a:ext cx="8229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BAE6F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Maximal Partial Unique Column Combinations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7200" y="1874520"/>
            <a:ext cx="2560320" cy="2542032"/>
          </a:xfrm>
          <a:prstGeom prst="rect">
            <a:avLst/>
          </a:prstGeom>
          <a:solidFill>
            <a:srgbClr val="0A7A70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1993392"/>
            <a:ext cx="25603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16×</a:t>
            </a:r>
            <a:endParaRPr lang="en-US" sz="4800" dirty="0"/>
          </a:p>
        </p:txBody>
      </p:sp>
      <p:sp>
        <p:nvSpPr>
          <p:cNvPr id="11" name="Text 9"/>
          <p:cNvSpPr/>
          <p:nvPr/>
        </p:nvSpPr>
        <p:spPr>
          <a:xfrm>
            <a:off x="457200" y="2834640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CCFBF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比 Anonymeter 快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CCFBF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（44 秒 vs 12 分鐘）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3200400" y="192024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AE6F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技術原理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200400" y="2340864"/>
            <a:ext cx="54864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E2E8F0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貪婪基數優先縮小搜尋空間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200400" y="2779776"/>
            <a:ext cx="54864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E2E8F0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決策樹剪枝排除無效欄位組合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200400" y="3218688"/>
            <a:ext cx="54864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E2E8F0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Rényi 熵（α=2）量化辨識風險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3200400" y="3657600"/>
            <a:ext cx="54864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E2E8F0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完整評估（非抽樣）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3200400" y="4096512"/>
            <a:ext cx="1691640" cy="594360"/>
          </a:xfrm>
          <a:prstGeom prst="rect">
            <a:avLst/>
          </a:prstGeom>
          <a:solidFill>
            <a:srgbClr val="0A7A70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200400" y="4114800"/>
            <a:ext cx="1691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CCFBF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公開釋出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3200400" y="4352544"/>
            <a:ext cx="1691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&lt; 0.05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5074920" y="4096512"/>
            <a:ext cx="1691640" cy="594360"/>
          </a:xfrm>
          <a:prstGeom prst="rect">
            <a:avLst/>
          </a:prstGeom>
          <a:solidFill>
            <a:srgbClr val="0A7A70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74920" y="4114800"/>
            <a:ext cx="1691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CCFBF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研究共享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5074920" y="4352544"/>
            <a:ext cx="1691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&lt; 0.10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6949440" y="4096512"/>
            <a:ext cx="1691640" cy="594360"/>
          </a:xfrm>
          <a:prstGeom prst="rect">
            <a:avLst/>
          </a:prstGeom>
          <a:solidFill>
            <a:srgbClr val="0A7A70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949440" y="4114800"/>
            <a:ext cx="1691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CCFBF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醫療/金融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6949440" y="4352544"/>
            <a:ext cx="1691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&lt; 0.01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457200" y="44348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59E0B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⚠ 實驗性功能：API 仍可能調整，不建議作為唯一正式合規依據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91440"/>
            <a:ext cx="2011680" cy="32918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91440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04  評估框架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457200" y="475488"/>
            <a:ext cx="82296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213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效用評估：TSTR 典範（Train on Synthetic, Test on Real）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1069848"/>
            <a:ext cx="8229600" cy="3657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0" y="4754880"/>
            <a:ext cx="9144000" cy="393192"/>
          </a:xfrm>
          <a:prstGeom prst="rect">
            <a:avLst/>
          </a:prstGeom>
          <a:solidFill>
            <a:srgbClr val="0D2137"/>
          </a:solidFill>
          <a:ln w="12700">
            <a:solidFill>
              <a:srgbClr val="0D213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4764024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PETsARD 深度研究  ·  10 / 17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943600" y="4764024"/>
            <a:ext cx="30175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NICS-CAPE @ Taiwan  ·  2026-06-23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57200" y="1207008"/>
            <a:ext cx="2633472" cy="2999232"/>
          </a:xfrm>
          <a:prstGeom prst="rect">
            <a:avLst/>
          </a:prstGeom>
          <a:solidFill>
            <a:srgbClr val="EFF6FF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7200" y="1207008"/>
            <a:ext cx="2633472" cy="475488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1207008"/>
            <a:ext cx="263347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分類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594360" y="1737360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模型：XGBoost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94360" y="2176272"/>
            <a:ext cx="2377440" cy="9875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F1 ≥ 0.7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ROC AUC ≥ 0.8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MCC ≥ 0.5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48640" y="3236976"/>
            <a:ext cx="2468880" cy="384048"/>
          </a:xfrm>
          <a:prstGeom prst="rect">
            <a:avLst/>
          </a:prstGeom>
          <a:solidFill>
            <a:srgbClr val="EFF6FF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48640" y="3236976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mlutility-classification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310128" y="1207008"/>
            <a:ext cx="2633472" cy="2999232"/>
          </a:xfrm>
          <a:prstGeom prst="rect">
            <a:avLst/>
          </a:prstGeom>
          <a:solidFill>
            <a:srgbClr val="CCFBF1"/>
          </a:solidFill>
          <a:ln w="12700">
            <a:solidFill>
              <a:srgbClr val="0A7A7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310128" y="1207008"/>
            <a:ext cx="2633472" cy="475488"/>
          </a:xfrm>
          <a:prstGeom prst="rect">
            <a:avLst/>
          </a:prstGeom>
          <a:solidFill>
            <a:srgbClr val="0A7A70"/>
          </a:solidFill>
          <a:ln w="12700">
            <a:solidFill>
              <a:srgbClr val="0A7A7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310128" y="1207008"/>
            <a:ext cx="263347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迴歸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3447288" y="1737360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7A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模型：XGBoost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3447288" y="2176272"/>
            <a:ext cx="2377440" cy="9875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7A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R² ≥ 0.7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A7A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RMSE（相對）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3401568" y="3236976"/>
            <a:ext cx="2468880" cy="384048"/>
          </a:xfrm>
          <a:prstGeom prst="rect">
            <a:avLst/>
          </a:prstGeom>
          <a:solidFill>
            <a:srgbClr val="EFF6FF"/>
          </a:solidFill>
          <a:ln w="12700">
            <a:solidFill>
              <a:srgbClr val="0A7A7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401568" y="3236976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A7A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mlutility-regression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6163056" y="1207008"/>
            <a:ext cx="2633472" cy="2999232"/>
          </a:xfrm>
          <a:prstGeom prst="rect">
            <a:avLst/>
          </a:prstGeom>
          <a:solidFill>
            <a:srgbClr val="FFFBE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163056" y="1207008"/>
            <a:ext cx="2633472" cy="47548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163056" y="1207008"/>
            <a:ext cx="263347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分群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6300216" y="1737360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9E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模型：K-means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6300216" y="2176272"/>
            <a:ext cx="2377440" cy="9875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9E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Silhouette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F59E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係數 ≥ 0.5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6254496" y="3236976"/>
            <a:ext cx="2468880" cy="384048"/>
          </a:xfrm>
          <a:prstGeom prst="rect">
            <a:avLst/>
          </a:prstGeom>
          <a:solidFill>
            <a:srgbClr val="EFF6FF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254496" y="3236976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59E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mlutility-clustering</a:t>
            </a:r>
            <a:endParaRPr lang="en-US" sz="1500" dirty="0"/>
          </a:p>
        </p:txBody>
      </p:sp>
      <p:sp>
        <p:nvSpPr>
          <p:cNvPr id="30" name="Shape 28"/>
          <p:cNvSpPr/>
          <p:nvPr/>
        </p:nvSpPr>
        <p:spPr>
          <a:xfrm>
            <a:off x="457200" y="4315968"/>
            <a:ext cx="8229600" cy="384048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02920" y="4315968"/>
            <a:ext cx="8138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475569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保真度 · SDMetrics QualityReport · Column Shapes + Column Pair Trends · 達標：≥ 0.75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91440"/>
            <a:ext cx="2011680" cy="32918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91440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06  工具比較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457200" y="475488"/>
            <a:ext cx="82296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213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與同類工具比較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1069848"/>
            <a:ext cx="8229600" cy="3657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0" y="4754880"/>
            <a:ext cx="9144000" cy="393192"/>
          </a:xfrm>
          <a:prstGeom prst="rect">
            <a:avLst/>
          </a:prstGeom>
          <a:solidFill>
            <a:srgbClr val="0D2137"/>
          </a:solidFill>
          <a:ln w="12700">
            <a:solidFill>
              <a:srgbClr val="0D213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4764024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PETsARD 深度研究  ·  11 / 17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943600" y="4764024"/>
            <a:ext cx="30175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NICS-CAPE @ Taiwan  ·  2026-06-23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47472" y="1207008"/>
            <a:ext cx="1417320" cy="38404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47472" y="1207008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1764792" y="1207008"/>
            <a:ext cx="1691640" cy="38404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764792" y="1207008"/>
            <a:ext cx="1691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PETsARD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3456432" y="1207008"/>
            <a:ext cx="1691640" cy="38404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456432" y="1207008"/>
            <a:ext cx="1691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SDV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148072" y="1207008"/>
            <a:ext cx="1691640" cy="38404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148072" y="1207008"/>
            <a:ext cx="1691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synthpop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839712" y="1207008"/>
            <a:ext cx="1691640" cy="38404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839712" y="1207008"/>
            <a:ext cx="1691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DataSynthesizer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347472" y="1591056"/>
            <a:ext cx="1417320" cy="347472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47472" y="1591056"/>
            <a:ext cx="1417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75569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語言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1764792" y="1591056"/>
            <a:ext cx="1691640" cy="347472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764792" y="1591056"/>
            <a:ext cx="1691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A7A70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Python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3456432" y="1591056"/>
            <a:ext cx="1691640" cy="347472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456432" y="1591056"/>
            <a:ext cx="1691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475569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Python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5148072" y="1591056"/>
            <a:ext cx="1691640" cy="347472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148072" y="1591056"/>
            <a:ext cx="1691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475569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R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6839712" y="1591056"/>
            <a:ext cx="1691640" cy="347472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839712" y="1591056"/>
            <a:ext cx="1691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475569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Python</a:t>
            </a:r>
            <a:endParaRPr lang="en-US" sz="1500" dirty="0"/>
          </a:p>
        </p:txBody>
      </p:sp>
      <p:sp>
        <p:nvSpPr>
          <p:cNvPr id="29" name="Shape 27"/>
          <p:cNvSpPr/>
          <p:nvPr/>
        </p:nvSpPr>
        <p:spPr>
          <a:xfrm>
            <a:off x="347472" y="1938528"/>
            <a:ext cx="141732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47472" y="1938528"/>
            <a:ext cx="1417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75569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GPU 加速</a:t>
            </a:r>
            <a:endParaRPr lang="en-US" sz="1500" dirty="0"/>
          </a:p>
        </p:txBody>
      </p:sp>
      <p:sp>
        <p:nvSpPr>
          <p:cNvPr id="31" name="Shape 29"/>
          <p:cNvSpPr/>
          <p:nvPr/>
        </p:nvSpPr>
        <p:spPr>
          <a:xfrm>
            <a:off x="1764792" y="1938528"/>
            <a:ext cx="1691640" cy="347472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764792" y="1938528"/>
            <a:ext cx="1691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A7A70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✅ Numba+GPU</a:t>
            </a:r>
            <a:endParaRPr lang="en-US" sz="1500" dirty="0"/>
          </a:p>
        </p:txBody>
      </p:sp>
      <p:sp>
        <p:nvSpPr>
          <p:cNvPr id="33" name="Shape 31"/>
          <p:cNvSpPr/>
          <p:nvPr/>
        </p:nvSpPr>
        <p:spPr>
          <a:xfrm>
            <a:off x="3456432" y="1938528"/>
            <a:ext cx="169164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456432" y="1938528"/>
            <a:ext cx="1691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475569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部分</a:t>
            </a:r>
            <a:endParaRPr lang="en-US" sz="1500" dirty="0"/>
          </a:p>
        </p:txBody>
      </p:sp>
      <p:sp>
        <p:nvSpPr>
          <p:cNvPr id="35" name="Shape 33"/>
          <p:cNvSpPr/>
          <p:nvPr/>
        </p:nvSpPr>
        <p:spPr>
          <a:xfrm>
            <a:off x="5148072" y="1938528"/>
            <a:ext cx="169164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148072" y="1938528"/>
            <a:ext cx="1691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475569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✗</a:t>
            </a:r>
            <a:endParaRPr lang="en-US" sz="1500" dirty="0"/>
          </a:p>
        </p:txBody>
      </p:sp>
      <p:sp>
        <p:nvSpPr>
          <p:cNvPr id="37" name="Shape 35"/>
          <p:cNvSpPr/>
          <p:nvPr/>
        </p:nvSpPr>
        <p:spPr>
          <a:xfrm>
            <a:off x="6839712" y="1938528"/>
            <a:ext cx="169164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39712" y="1938528"/>
            <a:ext cx="1691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475569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✗</a:t>
            </a:r>
            <a:endParaRPr lang="en-US" sz="1500" dirty="0"/>
          </a:p>
        </p:txBody>
      </p:sp>
      <p:sp>
        <p:nvSpPr>
          <p:cNvPr id="39" name="Shape 37"/>
          <p:cNvSpPr/>
          <p:nvPr/>
        </p:nvSpPr>
        <p:spPr>
          <a:xfrm>
            <a:off x="347472" y="2286000"/>
            <a:ext cx="1417320" cy="347472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47472" y="2286000"/>
            <a:ext cx="1417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75569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差分隱私</a:t>
            </a:r>
            <a:endParaRPr lang="en-US" sz="1500" dirty="0"/>
          </a:p>
        </p:txBody>
      </p:sp>
      <p:sp>
        <p:nvSpPr>
          <p:cNvPr id="41" name="Shape 39"/>
          <p:cNvSpPr/>
          <p:nvPr/>
        </p:nvSpPr>
        <p:spPr>
          <a:xfrm>
            <a:off x="1764792" y="2286000"/>
            <a:ext cx="1691640" cy="347472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764792" y="2286000"/>
            <a:ext cx="1691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A7A70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✗（可接入）</a:t>
            </a:r>
            <a:endParaRPr lang="en-US" sz="1500" dirty="0"/>
          </a:p>
        </p:txBody>
      </p:sp>
      <p:sp>
        <p:nvSpPr>
          <p:cNvPr id="43" name="Shape 41"/>
          <p:cNvSpPr/>
          <p:nvPr/>
        </p:nvSpPr>
        <p:spPr>
          <a:xfrm>
            <a:off x="3456432" y="2286000"/>
            <a:ext cx="1691640" cy="347472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456432" y="2286000"/>
            <a:ext cx="1691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475569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✗</a:t>
            </a:r>
            <a:endParaRPr lang="en-US" sz="1500" dirty="0"/>
          </a:p>
        </p:txBody>
      </p:sp>
      <p:sp>
        <p:nvSpPr>
          <p:cNvPr id="45" name="Shape 43"/>
          <p:cNvSpPr/>
          <p:nvPr/>
        </p:nvSpPr>
        <p:spPr>
          <a:xfrm>
            <a:off x="5148072" y="2286000"/>
            <a:ext cx="1691640" cy="347472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148072" y="2286000"/>
            <a:ext cx="1691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475569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✗</a:t>
            </a:r>
            <a:endParaRPr lang="en-US" sz="1500" dirty="0"/>
          </a:p>
        </p:txBody>
      </p:sp>
      <p:sp>
        <p:nvSpPr>
          <p:cNvPr id="47" name="Shape 45"/>
          <p:cNvSpPr/>
          <p:nvPr/>
        </p:nvSpPr>
        <p:spPr>
          <a:xfrm>
            <a:off x="6839712" y="2286000"/>
            <a:ext cx="1691640" cy="347472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839712" y="2286000"/>
            <a:ext cx="1691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475569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✅ PrivBayes</a:t>
            </a:r>
            <a:endParaRPr lang="en-US" sz="1500" dirty="0"/>
          </a:p>
        </p:txBody>
      </p:sp>
      <p:sp>
        <p:nvSpPr>
          <p:cNvPr id="49" name="Shape 47"/>
          <p:cNvSpPr/>
          <p:nvPr/>
        </p:nvSpPr>
        <p:spPr>
          <a:xfrm>
            <a:off x="347472" y="2633472"/>
            <a:ext cx="141732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47472" y="2633472"/>
            <a:ext cx="1417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75569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隱私評估</a:t>
            </a:r>
            <a:endParaRPr lang="en-US" sz="1500" dirty="0"/>
          </a:p>
        </p:txBody>
      </p:sp>
      <p:sp>
        <p:nvSpPr>
          <p:cNvPr id="51" name="Shape 49"/>
          <p:cNvSpPr/>
          <p:nvPr/>
        </p:nvSpPr>
        <p:spPr>
          <a:xfrm>
            <a:off x="1764792" y="2633472"/>
            <a:ext cx="1691640" cy="347472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1764792" y="2633472"/>
            <a:ext cx="1691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A7A70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✅ Anonymeter</a:t>
            </a:r>
            <a:endParaRPr lang="en-US" sz="1500" dirty="0"/>
          </a:p>
        </p:txBody>
      </p:sp>
      <p:sp>
        <p:nvSpPr>
          <p:cNvPr id="53" name="Shape 51"/>
          <p:cNvSpPr/>
          <p:nvPr/>
        </p:nvSpPr>
        <p:spPr>
          <a:xfrm>
            <a:off x="3456432" y="2633472"/>
            <a:ext cx="169164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3456432" y="2633472"/>
            <a:ext cx="1691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475569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✗</a:t>
            </a:r>
            <a:endParaRPr lang="en-US" sz="1500" dirty="0"/>
          </a:p>
        </p:txBody>
      </p:sp>
      <p:sp>
        <p:nvSpPr>
          <p:cNvPr id="55" name="Shape 53"/>
          <p:cNvSpPr/>
          <p:nvPr/>
        </p:nvSpPr>
        <p:spPr>
          <a:xfrm>
            <a:off x="5148072" y="2633472"/>
            <a:ext cx="169164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148072" y="2633472"/>
            <a:ext cx="1691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475569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✗</a:t>
            </a:r>
            <a:endParaRPr lang="en-US" sz="1500" dirty="0"/>
          </a:p>
        </p:txBody>
      </p:sp>
      <p:sp>
        <p:nvSpPr>
          <p:cNvPr id="57" name="Shape 55"/>
          <p:cNvSpPr/>
          <p:nvPr/>
        </p:nvSpPr>
        <p:spPr>
          <a:xfrm>
            <a:off x="6839712" y="2633472"/>
            <a:ext cx="169164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839712" y="2633472"/>
            <a:ext cx="1691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475569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✗</a:t>
            </a:r>
            <a:endParaRPr lang="en-US" sz="1500" dirty="0"/>
          </a:p>
        </p:txBody>
      </p:sp>
      <p:sp>
        <p:nvSpPr>
          <p:cNvPr id="59" name="Shape 57"/>
          <p:cNvSpPr/>
          <p:nvPr/>
        </p:nvSpPr>
        <p:spPr>
          <a:xfrm>
            <a:off x="347472" y="2980944"/>
            <a:ext cx="1417320" cy="347472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347472" y="2980944"/>
            <a:ext cx="1417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75569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效用評估</a:t>
            </a:r>
            <a:endParaRPr lang="en-US" sz="1500" dirty="0"/>
          </a:p>
        </p:txBody>
      </p:sp>
      <p:sp>
        <p:nvSpPr>
          <p:cNvPr id="61" name="Shape 59"/>
          <p:cNvSpPr/>
          <p:nvPr/>
        </p:nvSpPr>
        <p:spPr>
          <a:xfrm>
            <a:off x="1764792" y="2980944"/>
            <a:ext cx="1691640" cy="347472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1764792" y="2980944"/>
            <a:ext cx="1691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A7A70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✅ XGBoost</a:t>
            </a:r>
            <a:endParaRPr lang="en-US" sz="1500" dirty="0"/>
          </a:p>
        </p:txBody>
      </p:sp>
      <p:sp>
        <p:nvSpPr>
          <p:cNvPr id="63" name="Shape 61"/>
          <p:cNvSpPr/>
          <p:nvPr/>
        </p:nvSpPr>
        <p:spPr>
          <a:xfrm>
            <a:off x="3456432" y="2980944"/>
            <a:ext cx="1691640" cy="347472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3456432" y="2980944"/>
            <a:ext cx="1691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475569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部分</a:t>
            </a:r>
            <a:endParaRPr lang="en-US" sz="1500" dirty="0"/>
          </a:p>
        </p:txBody>
      </p:sp>
      <p:sp>
        <p:nvSpPr>
          <p:cNvPr id="65" name="Shape 63"/>
          <p:cNvSpPr/>
          <p:nvPr/>
        </p:nvSpPr>
        <p:spPr>
          <a:xfrm>
            <a:off x="5148072" y="2980944"/>
            <a:ext cx="1691640" cy="347472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148072" y="2980944"/>
            <a:ext cx="1691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475569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✗</a:t>
            </a:r>
            <a:endParaRPr lang="en-US" sz="1500" dirty="0"/>
          </a:p>
        </p:txBody>
      </p:sp>
      <p:sp>
        <p:nvSpPr>
          <p:cNvPr id="67" name="Shape 65"/>
          <p:cNvSpPr/>
          <p:nvPr/>
        </p:nvSpPr>
        <p:spPr>
          <a:xfrm>
            <a:off x="6839712" y="2980944"/>
            <a:ext cx="1691640" cy="347472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6839712" y="2980944"/>
            <a:ext cx="1691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475569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✗</a:t>
            </a:r>
            <a:endParaRPr lang="en-US" sz="1500" dirty="0"/>
          </a:p>
        </p:txBody>
      </p:sp>
      <p:sp>
        <p:nvSpPr>
          <p:cNvPr id="69" name="Shape 67"/>
          <p:cNvSpPr/>
          <p:nvPr/>
        </p:nvSpPr>
        <p:spPr>
          <a:xfrm>
            <a:off x="347472" y="3328416"/>
            <a:ext cx="141732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347472" y="3328416"/>
            <a:ext cx="1417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75569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多表支援</a:t>
            </a:r>
            <a:endParaRPr lang="en-US" sz="1500" dirty="0"/>
          </a:p>
        </p:txBody>
      </p:sp>
      <p:sp>
        <p:nvSpPr>
          <p:cNvPr id="71" name="Shape 69"/>
          <p:cNvSpPr/>
          <p:nvPr/>
        </p:nvSpPr>
        <p:spPr>
          <a:xfrm>
            <a:off x="1764792" y="3328416"/>
            <a:ext cx="1691640" cy="347472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1764792" y="3328416"/>
            <a:ext cx="1691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A7A70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✗（展平）</a:t>
            </a:r>
            <a:endParaRPr lang="en-US" sz="1500" dirty="0"/>
          </a:p>
        </p:txBody>
      </p:sp>
      <p:sp>
        <p:nvSpPr>
          <p:cNvPr id="73" name="Shape 71"/>
          <p:cNvSpPr/>
          <p:nvPr/>
        </p:nvSpPr>
        <p:spPr>
          <a:xfrm>
            <a:off x="3456432" y="3328416"/>
            <a:ext cx="169164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3456432" y="3328416"/>
            <a:ext cx="1691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475569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✅ HMA</a:t>
            </a:r>
            <a:endParaRPr lang="en-US" sz="1500" dirty="0"/>
          </a:p>
        </p:txBody>
      </p:sp>
      <p:sp>
        <p:nvSpPr>
          <p:cNvPr id="75" name="Shape 73"/>
          <p:cNvSpPr/>
          <p:nvPr/>
        </p:nvSpPr>
        <p:spPr>
          <a:xfrm>
            <a:off x="5148072" y="3328416"/>
            <a:ext cx="169164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5148072" y="3328416"/>
            <a:ext cx="1691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475569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有限</a:t>
            </a:r>
            <a:endParaRPr lang="en-US" sz="1500" dirty="0"/>
          </a:p>
        </p:txBody>
      </p:sp>
      <p:sp>
        <p:nvSpPr>
          <p:cNvPr id="77" name="Shape 75"/>
          <p:cNvSpPr/>
          <p:nvPr/>
        </p:nvSpPr>
        <p:spPr>
          <a:xfrm>
            <a:off x="6839712" y="3328416"/>
            <a:ext cx="169164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839712" y="3328416"/>
            <a:ext cx="1691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475569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✗</a:t>
            </a:r>
            <a:endParaRPr lang="en-US" sz="1500" dirty="0"/>
          </a:p>
        </p:txBody>
      </p:sp>
      <p:sp>
        <p:nvSpPr>
          <p:cNvPr id="79" name="Shape 77"/>
          <p:cNvSpPr/>
          <p:nvPr/>
        </p:nvSpPr>
        <p:spPr>
          <a:xfrm>
            <a:off x="347472" y="3675888"/>
            <a:ext cx="1417320" cy="347472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347472" y="3675888"/>
            <a:ext cx="1417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75569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YAML 配置</a:t>
            </a:r>
            <a:endParaRPr lang="en-US" sz="1500" dirty="0"/>
          </a:p>
        </p:txBody>
      </p:sp>
      <p:sp>
        <p:nvSpPr>
          <p:cNvPr id="81" name="Shape 79"/>
          <p:cNvSpPr/>
          <p:nvPr/>
        </p:nvSpPr>
        <p:spPr>
          <a:xfrm>
            <a:off x="1764792" y="3675888"/>
            <a:ext cx="1691640" cy="347472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1764792" y="3675888"/>
            <a:ext cx="1691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A7A70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✅</a:t>
            </a:r>
            <a:endParaRPr lang="en-US" sz="1500" dirty="0"/>
          </a:p>
        </p:txBody>
      </p:sp>
      <p:sp>
        <p:nvSpPr>
          <p:cNvPr id="83" name="Shape 81"/>
          <p:cNvSpPr/>
          <p:nvPr/>
        </p:nvSpPr>
        <p:spPr>
          <a:xfrm>
            <a:off x="3456432" y="3675888"/>
            <a:ext cx="1691640" cy="347472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3456432" y="3675888"/>
            <a:ext cx="1691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475569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✗</a:t>
            </a:r>
            <a:endParaRPr lang="en-US" sz="1500" dirty="0"/>
          </a:p>
        </p:txBody>
      </p:sp>
      <p:sp>
        <p:nvSpPr>
          <p:cNvPr id="85" name="Shape 83"/>
          <p:cNvSpPr/>
          <p:nvPr/>
        </p:nvSpPr>
        <p:spPr>
          <a:xfrm>
            <a:off x="5148072" y="3675888"/>
            <a:ext cx="1691640" cy="347472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5148072" y="3675888"/>
            <a:ext cx="1691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475569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✗</a:t>
            </a:r>
            <a:endParaRPr lang="en-US" sz="1500" dirty="0"/>
          </a:p>
        </p:txBody>
      </p:sp>
      <p:sp>
        <p:nvSpPr>
          <p:cNvPr id="87" name="Shape 85"/>
          <p:cNvSpPr/>
          <p:nvPr/>
        </p:nvSpPr>
        <p:spPr>
          <a:xfrm>
            <a:off x="6839712" y="3675888"/>
            <a:ext cx="1691640" cy="347472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6839712" y="3675888"/>
            <a:ext cx="1691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475569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✗</a:t>
            </a:r>
            <a:endParaRPr lang="en-US" sz="1500" dirty="0"/>
          </a:p>
        </p:txBody>
      </p:sp>
      <p:sp>
        <p:nvSpPr>
          <p:cNvPr id="89" name="Shape 87"/>
          <p:cNvSpPr/>
          <p:nvPr/>
        </p:nvSpPr>
        <p:spPr>
          <a:xfrm>
            <a:off x="347472" y="4023360"/>
            <a:ext cx="141732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347472" y="4023360"/>
            <a:ext cx="1417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75569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授權</a:t>
            </a:r>
            <a:endParaRPr lang="en-US" sz="1500" dirty="0"/>
          </a:p>
        </p:txBody>
      </p:sp>
      <p:sp>
        <p:nvSpPr>
          <p:cNvPr id="91" name="Shape 89"/>
          <p:cNvSpPr/>
          <p:nvPr/>
        </p:nvSpPr>
        <p:spPr>
          <a:xfrm>
            <a:off x="1764792" y="4023360"/>
            <a:ext cx="1691640" cy="347472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1764792" y="4023360"/>
            <a:ext cx="1691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A7A70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MIT*</a:t>
            </a:r>
            <a:endParaRPr lang="en-US" sz="1500" dirty="0"/>
          </a:p>
        </p:txBody>
      </p:sp>
      <p:sp>
        <p:nvSpPr>
          <p:cNvPr id="93" name="Shape 91"/>
          <p:cNvSpPr/>
          <p:nvPr/>
        </p:nvSpPr>
        <p:spPr>
          <a:xfrm>
            <a:off x="3456432" y="4023360"/>
            <a:ext cx="169164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3456432" y="4023360"/>
            <a:ext cx="1691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475569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BUSL 1.1</a:t>
            </a:r>
            <a:endParaRPr lang="en-US" sz="1500" dirty="0"/>
          </a:p>
        </p:txBody>
      </p:sp>
      <p:sp>
        <p:nvSpPr>
          <p:cNvPr id="95" name="Shape 93"/>
          <p:cNvSpPr/>
          <p:nvPr/>
        </p:nvSpPr>
        <p:spPr>
          <a:xfrm>
            <a:off x="5148072" y="4023360"/>
            <a:ext cx="169164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5148072" y="4023360"/>
            <a:ext cx="1691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475569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GPL</a:t>
            </a:r>
            <a:endParaRPr lang="en-US" sz="1500" dirty="0"/>
          </a:p>
        </p:txBody>
      </p:sp>
      <p:sp>
        <p:nvSpPr>
          <p:cNvPr id="97" name="Shape 95"/>
          <p:cNvSpPr/>
          <p:nvPr/>
        </p:nvSpPr>
        <p:spPr>
          <a:xfrm>
            <a:off x="6839712" y="4023360"/>
            <a:ext cx="169164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6839712" y="4023360"/>
            <a:ext cx="1691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475569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MIT</a:t>
            </a:r>
            <a:endParaRPr lang="en-US" sz="1500" dirty="0"/>
          </a:p>
        </p:txBody>
      </p:sp>
      <p:sp>
        <p:nvSpPr>
          <p:cNvPr id="99" name="Text 97"/>
          <p:cNvSpPr/>
          <p:nvPr/>
        </p:nvSpPr>
        <p:spPr>
          <a:xfrm>
            <a:off x="347472" y="440740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59E0B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* SDV 整合部分受 BUSL 1.1 限制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91440"/>
            <a:ext cx="2011680" cy="32918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91440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07  安裝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457200" y="475488"/>
            <a:ext cx="82296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213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安裝與快速上手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1069848"/>
            <a:ext cx="8229600" cy="3657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0" y="4754880"/>
            <a:ext cx="9144000" cy="393192"/>
          </a:xfrm>
          <a:prstGeom prst="rect">
            <a:avLst/>
          </a:prstGeom>
          <a:solidFill>
            <a:srgbClr val="0D2137"/>
          </a:solidFill>
          <a:ln w="12700">
            <a:solidFill>
              <a:srgbClr val="0D213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4764024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PETsARD 深度研究  ·  12 / 17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943600" y="4764024"/>
            <a:ext cx="30175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NICS-CAPE @ Taiwan  ·  2026-06-23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57200" y="1207008"/>
            <a:ext cx="8229600" cy="102412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243584"/>
            <a:ext cx="78638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基本安裝
</a:t>
            </a:r>
            <a:pPr indent="0" marL="0">
              <a:buNone/>
            </a:pPr>
            <a:r>
              <a:rPr lang="en-US" sz="1500" dirty="0">
                <a:solidFill>
                  <a:srgbClr val="22C5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pip install petsard
</a:t>
            </a:r>
            <a:pPr indent="0" marL="0">
              <a:buNone/>
            </a:pPr>
            <a:r>
              <a:rPr lang="en-US" sz="15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全功能（含 SDV + Jupyter）
</a:t>
            </a:r>
            <a:pPr indent="0" marL="0">
              <a:buNone/>
            </a:pPr>
            <a:r>
              <a:rPr lang="en-US" sz="1500" dirty="0">
                <a:solidFill>
                  <a:srgbClr val="22C5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pip install "petsard[all]"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457200" y="2432304"/>
            <a:ext cx="3931920" cy="8686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" y="2432304"/>
            <a:ext cx="1005840" cy="86868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2432304"/>
            <a:ext cx="1005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核心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508760" y="2487168"/>
            <a:ext cx="2834640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pandas, numpy, pyyaml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4754880" y="2432304"/>
            <a:ext cx="3931920" cy="8686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754880" y="2432304"/>
            <a:ext cx="1005840" cy="86868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54880" y="2432304"/>
            <a:ext cx="1005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加速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5806440" y="2487168"/>
            <a:ext cx="2834640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torch ≥2.8, numba, networkx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457200" y="3392424"/>
            <a:ext cx="3931920" cy="8686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" y="3392424"/>
            <a:ext cx="1005840" cy="86868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57200" y="3392424"/>
            <a:ext cx="1005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評估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508760" y="3447288"/>
            <a:ext cx="2834640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anonymeter ≥1.0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sdmetrics ≥0.23, xgboost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4754880" y="3392424"/>
            <a:ext cx="3931920" cy="8686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754880" y="3392424"/>
            <a:ext cx="1005840" cy="86868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754880" y="3392424"/>
            <a:ext cx="1005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視覺化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5806440" y="3447288"/>
            <a:ext cx="2834640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plotly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457200" y="4370832"/>
            <a:ext cx="8229600" cy="347472"/>
          </a:xfrm>
          <a:prstGeom prst="rect">
            <a:avLst/>
          </a:prstGeom>
          <a:solidFill>
            <a:srgbClr val="FEF3C7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02920" y="4370832"/>
            <a:ext cx="8138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59E0B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⚠ Python 嚴格限定 3.10 或 3.11（不支援 3.12+）  ·  建議使用虛擬環境管理版本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91440"/>
            <a:ext cx="2011680" cy="32918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91440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08  應用場景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457200" y="475488"/>
            <a:ext cx="82296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213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五大應用場景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1069848"/>
            <a:ext cx="8229600" cy="3657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0" y="4754880"/>
            <a:ext cx="9144000" cy="393192"/>
          </a:xfrm>
          <a:prstGeom prst="rect">
            <a:avLst/>
          </a:prstGeom>
          <a:solidFill>
            <a:srgbClr val="0D2137"/>
          </a:solidFill>
          <a:ln w="12700">
            <a:solidFill>
              <a:srgbClr val="0D213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4764024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PETsARD 深度研究  ·  13 / 17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943600" y="4764024"/>
            <a:ext cx="30175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NICS-CAPE @ Taiwan  ·  2026-06-23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47472" y="1207008"/>
            <a:ext cx="2788920" cy="17830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47472" y="1316736"/>
            <a:ext cx="2788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🏥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438912" y="1801368"/>
            <a:ext cx="2606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D213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醫療資料開放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38912" y="2212848"/>
            <a:ext cx="26060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75569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合成電子病歷供研究機構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475569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Anonymeter 提供 GDPR 合規依據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3291840" y="1207008"/>
            <a:ext cx="2788920" cy="17830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316736"/>
            <a:ext cx="2788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💳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3383280" y="1801368"/>
            <a:ext cx="2606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D213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金融詐騙偵測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3383280" y="2212848"/>
            <a:ext cx="26060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75569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生成合成詐騙事件資料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475569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擴充稀少正樣本訓練集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236208" y="1207008"/>
            <a:ext cx="2788920" cy="17830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236208" y="1316736"/>
            <a:ext cx="2788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🏛️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6327648" y="1801368"/>
            <a:ext cx="2606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D213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政府 Open Data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327648" y="2212848"/>
            <a:ext cx="26060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75569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社會經濟調查合成版本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475569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去識別化聲明佐證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47472" y="3145536"/>
            <a:ext cx="2788920" cy="17830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47472" y="3255264"/>
            <a:ext cx="2788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🤖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438912" y="3739896"/>
            <a:ext cx="2606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D213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AI 模型測試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438912" y="4151376"/>
            <a:ext cx="26060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75569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生產資料合成替代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475569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模擬真實行為分佈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3291840" y="3145536"/>
            <a:ext cx="2788920" cy="17830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291840" y="3255264"/>
            <a:ext cx="2788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⚖️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3383280" y="3739896"/>
            <a:ext cx="2606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D213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法規遵循演練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3383280" y="4151376"/>
            <a:ext cx="26060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75569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企業 PIA 工具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475569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個資保護審計佐證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91440"/>
            <a:ext cx="2011680" cy="32918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91440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08  限制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457200" y="475488"/>
            <a:ext cx="82296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213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已知限制與注意事項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1069848"/>
            <a:ext cx="8229600" cy="3657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0" y="4754880"/>
            <a:ext cx="9144000" cy="393192"/>
          </a:xfrm>
          <a:prstGeom prst="rect">
            <a:avLst/>
          </a:prstGeom>
          <a:solidFill>
            <a:srgbClr val="0D2137"/>
          </a:solidFill>
          <a:ln w="12700">
            <a:solidFill>
              <a:srgbClr val="0D213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4764024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PETsARD 深度研究  ·  14 / 17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943600" y="4764024"/>
            <a:ext cx="30175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NICS-CAPE @ Taiwan  ·  2026-06-23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57200" y="1207008"/>
            <a:ext cx="438912" cy="438912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120700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高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987552" y="1243584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Python 版本鎖定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3456432" y="1243584"/>
            <a:ext cx="52120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75569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嚴格要求 3.10 / 3.11，不支援 3.12+；需虛擬環境管理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457200" y="1773936"/>
            <a:ext cx="438912" cy="438912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" y="1773936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高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987552" y="1810512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多表支援缺失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3456432" y="1810512"/>
            <a:ext cx="52120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75569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不直接支援多表合成，需先 denormalize 展平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457200" y="2340864"/>
            <a:ext cx="438912" cy="43891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" y="234086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中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87552" y="2377440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差分隱私缺口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3456432" y="2377440"/>
            <a:ext cx="52120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75569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無內建 DP 合成器；需透過 custom_method 接入 OpenDP / PrivBayes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457200" y="2907792"/>
            <a:ext cx="438912" cy="43891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7200" y="290779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中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987552" y="2944368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高維欄位瓶頸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3456432" y="2944368"/>
            <a:ext cx="52120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75569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自研 GC 相關矩陣 O(n²)；欄位 &gt;1,000 時效能急劇下降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457200" y="3474720"/>
            <a:ext cx="438912" cy="438912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57200" y="347472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低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987552" y="3511296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mpUCCs 實驗性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3456432" y="3511296"/>
            <a:ext cx="52120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75569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API 仍可能調整，不建議作為唯一正式合規依據</a:t>
            </a:r>
            <a:endParaRPr lang="en-US" sz="1500" dirty="0"/>
          </a:p>
        </p:txBody>
      </p:sp>
      <p:sp>
        <p:nvSpPr>
          <p:cNvPr id="29" name="Shape 27"/>
          <p:cNvSpPr/>
          <p:nvPr/>
        </p:nvSpPr>
        <p:spPr>
          <a:xfrm>
            <a:off x="457200" y="4041648"/>
            <a:ext cx="438912" cy="438912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57200" y="404164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低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987552" y="4078224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社群規模尚小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3456432" y="4078224"/>
            <a:ext cx="52120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75569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6 stars、1 fork（2026-06）；第三方教學與插件資源有限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91440"/>
            <a:ext cx="2011680" cy="32918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91440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09  洞察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457200" y="475488"/>
            <a:ext cx="82296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213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四大戰略洞察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1069848"/>
            <a:ext cx="8229600" cy="3657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0" y="4754880"/>
            <a:ext cx="9144000" cy="393192"/>
          </a:xfrm>
          <a:prstGeom prst="rect">
            <a:avLst/>
          </a:prstGeom>
          <a:solidFill>
            <a:srgbClr val="0D2137"/>
          </a:solidFill>
          <a:ln w="12700">
            <a:solidFill>
              <a:srgbClr val="0D213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4764024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PETsARD 深度研究  ·  15 / 17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943600" y="4764024"/>
            <a:ext cx="30175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NICS-CAPE @ Taiwan  ·  2026-06-23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57200" y="1188720"/>
            <a:ext cx="530352" cy="7132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1188720"/>
            <a:ext cx="5303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1078992" y="1188720"/>
            <a:ext cx="7571232" cy="713232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70432" y="1234440"/>
            <a:ext cx="7406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D213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政策流派定位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170432" y="1572768"/>
            <a:ext cx="74066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75569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評估門檻直接對齊 PDPC，在合規報告中可直接引用，適合政府機關與受監管產業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457200" y="2121408"/>
            <a:ext cx="530352" cy="7132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2121408"/>
            <a:ext cx="5303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1078992" y="2121408"/>
            <a:ext cx="7571232" cy="713232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70432" y="2167128"/>
            <a:ext cx="7406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D213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端到端完整管線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170432" y="2505456"/>
            <a:ext cx="74066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75569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大多數競品只做合成；PETsARD 整合生成+評估，適合需嚴格文件化的場景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457200" y="3054096"/>
            <a:ext cx="530352" cy="7132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7200" y="3054096"/>
            <a:ext cx="5303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1078992" y="3054096"/>
            <a:ext cx="7571232" cy="713232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170432" y="3099816"/>
            <a:ext cx="7406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D213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mpUCCs 潛在貢獻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1170432" y="3438144"/>
            <a:ext cx="74066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75569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若 16× 速度聲稱驗證成功並完成學術發表，將填補完整性隱私評估缺口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457200" y="3986784"/>
            <a:ext cx="530352" cy="7132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7200" y="3986784"/>
            <a:ext cx="5303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1078992" y="3986784"/>
            <a:ext cx="7571232" cy="713232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170432" y="4032504"/>
            <a:ext cx="7406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D213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差分隱私戰略缺口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1170432" y="4370832"/>
            <a:ext cx="74066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75569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現有框架基於攻擊模型非形式化 DP；整合 OpenDP 將大幅提升合規覆蓋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91440"/>
            <a:ext cx="2011680" cy="32918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91440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09  建議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457200" y="475488"/>
            <a:ext cx="82296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213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分角色建議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1069848"/>
            <a:ext cx="8229600" cy="3657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0" y="4754880"/>
            <a:ext cx="9144000" cy="393192"/>
          </a:xfrm>
          <a:prstGeom prst="rect">
            <a:avLst/>
          </a:prstGeom>
          <a:solidFill>
            <a:srgbClr val="0D2137"/>
          </a:solidFill>
          <a:ln w="12700">
            <a:solidFill>
              <a:srgbClr val="0D213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4764024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PETsARD 深度研究  ·  16 / 17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943600" y="4764024"/>
            <a:ext cx="30175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NICS-CAPE @ Taiwan  ·  2026-06-23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57200" y="1207008"/>
            <a:ext cx="8229600" cy="1078992"/>
          </a:xfrm>
          <a:prstGeom prst="rect">
            <a:avLst/>
          </a:prstGeom>
          <a:solidFill>
            <a:srgbClr val="EFF6FF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7200" y="1207008"/>
            <a:ext cx="1828800" cy="1078992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1207008"/>
            <a:ext cx="182880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資料科學家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2423160" y="1298448"/>
            <a:ext cx="6126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E293B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先以 petsard-gaussian-copula 起步（快速＋可解釋）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2423160" y="1609344"/>
            <a:ext cx="6126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E293B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必跑 Anonymeter Singling Out（唯一強制評估）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2423160" y="1920240"/>
            <a:ext cx="6126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E293B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品質不足再改 CTGAN / TVAE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457200" y="2377440"/>
            <a:ext cx="8229600" cy="1078992"/>
          </a:xfrm>
          <a:prstGeom prst="rect">
            <a:avLst/>
          </a:prstGeom>
          <a:solidFill>
            <a:srgbClr val="FEF2F2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7200" y="2377440"/>
            <a:ext cx="1828800" cy="1078992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2377440"/>
            <a:ext cx="182880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資安/合規人員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2423160" y="2468880"/>
            <a:ext cx="6126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E293B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以 Anonymeter 結果作為隱私評估報告核心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2423160" y="2779776"/>
            <a:ext cx="6126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E293B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mpUCCs 可輔助參考，不作為唯一合規依據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2423160" y="3090672"/>
            <a:ext cx="6126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E293B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追蹤 PETsARD 差分隱私整合計畫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457200" y="3547872"/>
            <a:ext cx="8229600" cy="1078992"/>
          </a:xfrm>
          <a:prstGeom prst="rect">
            <a:avLst/>
          </a:prstGeom>
          <a:solidFill>
            <a:srgbClr val="CCFBF1"/>
          </a:solidFill>
          <a:ln w="12700">
            <a:solidFill>
              <a:srgbClr val="0A7A7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57200" y="3547872"/>
            <a:ext cx="1828800" cy="1078992"/>
          </a:xfrm>
          <a:prstGeom prst="rect">
            <a:avLst/>
          </a:prstGeom>
          <a:solidFill>
            <a:srgbClr val="0A7A70"/>
          </a:solidFill>
          <a:ln w="12700">
            <a:solidFill>
              <a:srgbClr val="0A7A7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57200" y="3547872"/>
            <a:ext cx="182880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政策制定者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2423160" y="3639312"/>
            <a:ext cx="6126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E293B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考慮將 PETsARD 評估框架納入資料開放標準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2423160" y="3950208"/>
            <a:ext cx="6126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E293B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投入資源讓 mpUCCs 完成學術發表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2423160" y="4261104"/>
            <a:ext cx="6126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E293B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解除 Python 3.10–3.11 版本限制以利企業導入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D21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NICS-CAPE @ Taiwan  ·  PETsARD Deep Research Report  ·  2026-06-23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457200" y="566928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謝謝</a:t>
            </a:r>
            <a:endParaRPr lang="en-US" sz="6000" dirty="0"/>
          </a:p>
        </p:txBody>
      </p:sp>
      <p:sp>
        <p:nvSpPr>
          <p:cNvPr id="5" name="Text 3"/>
          <p:cNvSpPr/>
          <p:nvPr/>
        </p:nvSpPr>
        <p:spPr>
          <a:xfrm>
            <a:off x="457200" y="1627632"/>
            <a:ext cx="8229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AE6F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PETsARD — 隱私強化技術分析、研究與開發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57200" y="2194560"/>
            <a:ext cx="8229600" cy="3657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2304288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CFBF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主要來源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48640" y="2761488"/>
            <a:ext cx="8046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GitHub: nics-dp/petsard  —  https://github.com/nics-dp/petsard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48640" y="3127248"/>
            <a:ext cx="8046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官方文件: https://nics-dp.github.io/petsard/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48640" y="3493008"/>
            <a:ext cx="8046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PyPI: https://pypi.org/project/petsard/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548640" y="3858768"/>
            <a:ext cx="8046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Anonymeter: Giomi et al., PoPETs 2023  —  https://arxiv.org/abs/2211.10459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548640" y="4224528"/>
            <a:ext cx="8046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新加坡 PDPC 合成資料指引 (2023)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PETsARD 深度研究報告</dc:title>
  <dc:subject>Privacy Enhancing Technologies Analysis Research Development</dc:subject>
  <dc:creator>NICS-CAPE Deep Research</dc:creator>
  <cp:lastModifiedBy>NICS-CAPE Deep Research</cp:lastModifiedBy>
  <cp:revision>1</cp:revision>
  <dcterms:created xsi:type="dcterms:W3CDTF">2026-06-23T01:53:33Z</dcterms:created>
  <dcterms:modified xsi:type="dcterms:W3CDTF">2026-06-23T01:53:33Z</dcterms:modified>
</cp:coreProperties>
</file>