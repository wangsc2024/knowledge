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CFB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RESEARCH REPORT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PETsARD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AE6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Enhancing Technologies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AE6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Analysis, Research, and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804672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337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台灣開源合成資料生成與隱私評估平台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1645920" cy="274320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合成資料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3931920"/>
            <a:ext cx="1645920" cy="274320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隱私評估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3931920"/>
            <a:ext cx="1645920" cy="274320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NICS-CAPE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72200" y="3931920"/>
            <a:ext cx="1645920" cy="274320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MIT License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v1.10.2  ·  2026-06-23  ·  Standard Research Mode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2 / 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127101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背景與政策動機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856232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整體架構與設計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478024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251460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合成演算法（Synthesizer）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099816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2688" y="313639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評估框架（Evaluator）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721608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2688" y="37581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自研 mpUCCs 演算法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754880" y="1234440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30368" y="127101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與同類工具比較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0" y="1856232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30368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安裝與快速上手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754880" y="2478024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0368" y="251460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應用場景與限制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54880" y="3099816"/>
            <a:ext cx="384048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30368" y="313639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綜合洞察與建議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  背景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是什麼？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3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（/pəˈtɑrd/）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＝  Privacy Enhancing Technologies Analysis, Research, and Development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517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🏛️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政策委託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30632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台灣數位發展部（moda）委託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國家資通安全研究院（NICS-CAPE）開發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2103120"/>
            <a:ext cx="26517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9184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291840" y="2651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核心目標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83280" y="30632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提供標準化、可驗證、開源的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合成資料工具鏈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2103120"/>
            <a:ext cx="26517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26480" y="2651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合規導向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217920" y="30632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評估門檻對齊新加坡 PDPC 2023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與歐盟 GDPR 框架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  背景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版本演進與現況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4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7315200" cy="45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724912"/>
            <a:ext cx="219456" cy="219456"/>
          </a:xfrm>
          <a:prstGeom prst="oval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1188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-91440" y="14630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數位發展部成立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2376" y="1874520"/>
            <a:ext cx="18288" cy="8686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50592" y="2724912"/>
            <a:ext cx="219456" cy="219456"/>
          </a:xfrm>
          <a:prstGeom prst="oval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28800" y="1188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37360" y="14630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委託 NICS-CAPE 開發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51176" y="1874520"/>
            <a:ext cx="18288" cy="8686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79392" y="2724912"/>
            <a:ext cx="219456" cy="219456"/>
          </a:xfrm>
          <a:prstGeom prst="oval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1188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2024-12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66160" y="14630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v1.0 交付數位部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moda-gov-tw/PETsARD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79976" y="1874520"/>
            <a:ext cx="18288" cy="8686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08192" y="2724912"/>
            <a:ext cx="219456" cy="219456"/>
          </a:xfrm>
          <a:prstGeom prst="oval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188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2025-05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94960" y="14630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v1.3.1 遷移至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nics-dp/petsard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08776" y="1874520"/>
            <a:ext cx="18288" cy="8686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36992" y="2724912"/>
            <a:ext cx="219456" cy="219456"/>
          </a:xfrm>
          <a:prstGeom prst="oval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1188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1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2026-06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223760" y="14630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v1.10.2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Production/Stable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42 版本累計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37576" y="1874520"/>
            <a:ext cx="18288" cy="8686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33756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429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v1.10.2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5720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最新版本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60320" y="333756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60320" y="3429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56032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累計版本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33756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3429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466344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開源授權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766560" y="333756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0" y="3429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76656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PyPI 狀態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  架構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八模組管線架構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5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188720"/>
            <a:ext cx="1536192" cy="11430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234440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1600200"/>
            <a:ext cx="15361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CSV/Excel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benchmark://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10512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993392" y="1188720"/>
            <a:ext cx="1536192" cy="11430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93392" y="1234440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93392" y="1600200"/>
            <a:ext cx="15361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80/20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訓練/測試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29584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12464" y="1188720"/>
            <a:ext cx="1536192" cy="11430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12464" y="1234440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Preprocessor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12464" y="1600200"/>
            <a:ext cx="15361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缺失值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編碼/縮放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48656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31536" y="1188720"/>
            <a:ext cx="1536192" cy="11430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31536" y="1234440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Synthesizer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31536" y="1600200"/>
            <a:ext cx="15361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合成演算法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（見下節）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67728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50608" y="1188720"/>
            <a:ext cx="1536192" cy="11430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50608" y="1234440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Postprocessor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50608" y="1600200"/>
            <a:ext cx="15361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逆轉換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還原格式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0392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D9488"/>
                </a:solidFill>
              </a:rPr>
              <a:t>↓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503920" y="2560320"/>
            <a:ext cx="173736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260604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03920" y="29718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業務邏輯約束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欄位比例/NaN groups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47888" y="29260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</a:rPr>
              <a:t>←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92240" y="2560320"/>
            <a:ext cx="173736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260604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92240" y="29718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統計描述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Schema 文件化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29260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</a:rPr>
              <a:t>←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480560" y="2560320"/>
            <a:ext cx="173736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80560" y="260604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480560" y="29718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隱私/保真度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效用評估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224528" y="29260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</a:rPr>
              <a:t>←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2468880" y="2560320"/>
            <a:ext cx="173736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0" y="260604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468880" y="29718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輸出報告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四種粒度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3886200"/>
            <a:ext cx="8595360" cy="411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38862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Executor  —  run() · get_result() · get_timing() · is_execution_completed() · get_inferred_schema()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  合成演算法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Synthesizer：四層合成選項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6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84048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🔬 自研 Gaussian Copula（預設）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16642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五步流程：邊際轉換→高斯化→相關學習→取樣→逆轉換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0665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Numba JIT 加速（2–3×，極端 10–100×）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PyTorch GPU 支援（≥50,000 行自動啟動）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287121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限制：線性相關假設；欄位 &gt;1000 時 O(n²) 記憶體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0" y="1188720"/>
            <a:ext cx="411480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1188720"/>
            <a:ext cx="4114800" cy="365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11887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🔌 SDV 整合算法（petsard[all]）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1664208"/>
            <a:ext cx="1463040" cy="32004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0" y="16824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GaussianCopula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26480" y="168249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快速、統計穩健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2066544"/>
            <a:ext cx="1463040" cy="32004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20848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CTGAN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26480" y="208483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GAN-based，複雜多峰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17720" y="2468880"/>
            <a:ext cx="1463040" cy="32004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248716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CopulaGAN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48716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混合型，beta 分佈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2871216"/>
            <a:ext cx="1463040" cy="32004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0" y="288950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TVAE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26480" y="2889504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VAE-based，訓練穩定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61188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🔧 custom_method — module_path + class_name 接入任意第三方演算法  |  📁 custom_data — 匯入外部合成資料純做評估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SDV 整合部分受 Business Source License 1.1 限制，商業競爭用途須留意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  評估框架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Evaluator：四維度評估框架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7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93192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280160"/>
            <a:ext cx="3712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資料有效性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6928" y="1664208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工具：SDMetrics DiagnosticReport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048256"/>
            <a:ext cx="1371600" cy="34747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04825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達標：≈ 1.0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3931920" cy="146304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1280160"/>
            <a:ext cx="3712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隱私保護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64608" y="1664208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工具：Anonymeter (GDPR 三維)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608" y="2048256"/>
            <a:ext cx="137160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204825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達標：&lt; 0.09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3931920" cy="1463040"/>
          </a:xfrm>
          <a:prstGeom prst="rect">
            <a:avLst/>
          </a:prstGeom>
          <a:solidFill>
            <a:srgbClr val="CCFBF1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834640"/>
            <a:ext cx="3931920" cy="45720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926080"/>
            <a:ext cx="3712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保真度 Fidelity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3310128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工具：SDMetrics QualityReport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4176"/>
            <a:ext cx="1371600" cy="347472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941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達標：≥ 0.75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834640"/>
            <a:ext cx="3931920" cy="146304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2834640"/>
            <a:ext cx="3931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926080"/>
            <a:ext cx="3712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效用 Utility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310128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工具：XGBoost + K-means (TSTR)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64608" y="3694176"/>
            <a:ext cx="1371600" cy="34747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64608" y="36941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達標：F1 ≥ 0.7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  評估框架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隱私評估：Anonymeter GDPR 三維框架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8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97864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依據：EU Article 29 WP29 2014 · Giomi et al. PoPETs 2023 · 2023 年法國 CNIL 背書  |  門檻 &lt;0.09 來自新加坡 PDPC 2023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651760" cy="2468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737360"/>
            <a:ext cx="265176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Singling Out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286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能否以欄位組合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唯一辨識個人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1560" y="3090672"/>
            <a:ext cx="146304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906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anonymeter-singlingout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170432" y="3520440"/>
            <a:ext cx="1234440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70432" y="35204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強制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1737360"/>
            <a:ext cx="2651760" cy="246888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37360"/>
            <a:ext cx="265176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Linkability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2286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能否跨資料集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連結同一個人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886200" y="3090672"/>
            <a:ext cx="146304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30906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anonymeter-linkability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005072" y="3520440"/>
            <a:ext cx="123444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05072" y="35204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26480" y="1737360"/>
            <a:ext cx="2651760" cy="2468880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1737360"/>
            <a:ext cx="265176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Inference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0" y="2286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能否從輔助欄位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推導敏感欄位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20840" y="3090672"/>
            <a:ext cx="146304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30906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anonymeter-inference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839712" y="3520440"/>
            <a:ext cx="123444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39712" y="35204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37083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= ( 主攻擊率 − 基準攻擊率 ) ÷ ( 1 − 基準攻擊率 )    達標：risk &lt; 0.09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9 / 17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"/>
            <a:ext cx="29260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  自研 mpUCCs 演算法（實驗性）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mpUCCs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AE6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Maximal Partial Unique Column Combinations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2286000" cy="2286000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574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16×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457200" y="2944368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 Anonymeter 快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（44秒 vs 12分鐘）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0" y="196596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AE6F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技術原理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37744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貪婪基數優先（greedy cardinality-first）縮小搜尋空間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26080" y="2779776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決策樹剪枝排除無效欄位組合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26080" y="318211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Rényi 熵（α=2，碰撞熵）量化辨識風險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26080" y="35844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完整評估（非抽樣）— Anonymeter 採抽樣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26080" y="4023360"/>
            <a:ext cx="1691640" cy="594360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0" y="404164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公開釋出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0" y="4297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 0.05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4023360"/>
            <a:ext cx="1691640" cy="594360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04164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研究共享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00600" y="4297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 0.10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4023360"/>
            <a:ext cx="1691640" cy="594360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404164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醫療/金融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75120" y="4297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 0.01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實驗性功能：API 仍可能調整，不建議作為唯一正式合規依據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  評估框架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效用評估：TSTR 典範（Train on Synthetic, Test on Real）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10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2606040" cy="283464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34440"/>
            <a:ext cx="260604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344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分類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783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模型：XGBoost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1945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 ≥ 0.7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ROC AUC ≥ 0.8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MCC ≥ 0.5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3200400"/>
            <a:ext cx="20116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mlutility-classification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310128" y="1234440"/>
            <a:ext cx="2606040" cy="2834640"/>
          </a:xfrm>
          <a:prstGeom prst="rect">
            <a:avLst/>
          </a:prstGeom>
          <a:solidFill>
            <a:srgbClr val="CCFBF1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0128" y="1234440"/>
            <a:ext cx="2606040" cy="457200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0128" y="12344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迴歸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47288" y="1783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模型：XGBoost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47288" y="21945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≥ 0.7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RMSE（相對）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47288" y="3200400"/>
            <a:ext cx="20116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mlutility-regression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63056" y="1234440"/>
            <a:ext cx="2606040" cy="283464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63056" y="1234440"/>
            <a:ext cx="260604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12344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分群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00216" y="1783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模型：K-means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0216" y="21945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Silhouette 係數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 0.5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00216" y="3200400"/>
            <a:ext cx="20116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0216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mlutility-clustering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20624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保真度評估  ·  SDMetrics QualityReport  ·  Column Shapes + Column Pair Trends  ·  達標：≥ 0.75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  工具比較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與同類工具比較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11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234440"/>
            <a:ext cx="137160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2344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48256" y="1234440"/>
            <a:ext cx="1682496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48256" y="123444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30752" y="1234440"/>
            <a:ext cx="1682496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0752" y="123444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SDV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13248" y="1234440"/>
            <a:ext cx="1682496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123444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synthpop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95744" y="1234440"/>
            <a:ext cx="1682496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95744" y="123444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DataSynthesizer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1581912"/>
            <a:ext cx="13716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158191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語言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048256" y="1581912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48256" y="158191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30752" y="1581912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30752" y="158191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13248" y="1581912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58191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095744" y="1581912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95744" y="158191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1929384"/>
            <a:ext cx="1371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192938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GPU 加速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048256" y="1929384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48256" y="192938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Numba+GPU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730752" y="1929384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30752" y="192938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部分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13248" y="1929384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13248" y="192938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95744" y="1929384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95744" y="192938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5760" y="2276856"/>
            <a:ext cx="13716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227685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差分隱私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048256" y="2276856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48256" y="227685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✗（可接入）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730752" y="2276856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30752" y="227685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13248" y="2276856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3248" y="227685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095744" y="2276856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95744" y="227685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PrivBayes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65760" y="2624328"/>
            <a:ext cx="1371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262432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內建隱私評估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048256" y="2624328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48256" y="2624328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Anonymeter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730752" y="2624328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0752" y="2624328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413248" y="2624328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13248" y="2624328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095744" y="2624328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95744" y="2624328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65760" y="2971800"/>
            <a:ext cx="13716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5760" y="29718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內建效用評估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048256" y="2971800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48256" y="297180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XGBoost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730752" y="2971800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730752" y="297180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部分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413248" y="2971800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13248" y="297180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095744" y="2971800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95744" y="297180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65760" y="3319272"/>
            <a:ext cx="1371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65760" y="331927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多表支援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048256" y="3319272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048256" y="331927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✗（展平）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3730752" y="3319272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30752" y="331927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HMA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413248" y="3319272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413248" y="331927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有限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7095744" y="3319272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095744" y="3319272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365760" y="3666744"/>
            <a:ext cx="13716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65760" y="366674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YAML 配置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2048256" y="3666744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48256" y="366674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730752" y="3666744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730752" y="366674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5413248" y="3666744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413248" y="366674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7095744" y="3666744"/>
            <a:ext cx="1682496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095744" y="3666744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365760" y="4014216"/>
            <a:ext cx="1371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65760" y="401421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授權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048256" y="4014216"/>
            <a:ext cx="1682496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048256" y="401421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MIT*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3730752" y="4014216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730752" y="401421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BUSL 1.1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413248" y="4014216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413248" y="401421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GPL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7095744" y="4014216"/>
            <a:ext cx="16824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095744" y="4014216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MIT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365760" y="43434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* SDV 整合部分受 BUSL 1.1 限制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  安裝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安裝與快速上手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12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82296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280160"/>
            <a:ext cx="78638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基本安裝
</a:t>
            </a:r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petsard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全功能（含 SDV + Jupyter）
</a:t>
            </a:r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"petsard[all]"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468880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688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核心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508760" y="251460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pandas, numpy, pyyaml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468880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468880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4688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合成加速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06440" y="251460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torch ≥2.8, numba, networkx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429000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42900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08760" y="347472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 ≥1.0, sdmetrics ≥0.23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xgboost, scikit-learn, scipy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3429000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3429000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42900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視覺化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806440" y="347472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plotly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Python 嚴格限定 3.10 或 3.11（不支援 3.12+）  ·  建議使用 Docker 映像或虛擬環境管理版本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  應用場景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五大應用場景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13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234440"/>
            <a:ext cx="274320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" y="1828800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醫療資料開放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" y="2167128"/>
            <a:ext cx="25420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合成電子病歷供研究機構使用，Anonymeter 提供 GDPR 合規依據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274320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9184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01568" y="1828800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金融詐騙偵測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01568" y="2167128"/>
            <a:ext cx="25420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生成統計相似的詐騙事件合成資料，擴充稀少正樣本訓練集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274320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🏛️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27648" y="1828800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政府 Open Data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27648" y="2167128"/>
            <a:ext cx="25420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社會經濟調查合成版本，Anonymeter 報告作為去識別化聲明佐證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274320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75488" y="3657600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模型測試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5488" y="3995928"/>
            <a:ext cx="25420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生產資料的合成替代，在開發環境模擬真實行為分佈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91840" y="3063240"/>
            <a:ext cx="274320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29184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401568" y="3657600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法規遵循演練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401568" y="3995928"/>
            <a:ext cx="25420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企業內部隱私影響評估（PIA）工具，個資保護審計佐證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  限制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已知限制與注意事項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14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1148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60120" y="127101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 版本鎖定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1271016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嚴格要求 3.10 / 3.11，不支援 3.12+；需虛擬環境管理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810512"/>
            <a:ext cx="41148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8105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60120" y="184708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多表支援缺失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29000" y="1847088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不直接支援多表合成，需先 denormalize 展平；官方坦承現有開源方案限制明顯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86584"/>
            <a:ext cx="41148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386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242316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差分隱私缺口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290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無內建 DP 合成器；需透過 custom_method 接入 OpenDP / PrivBayes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62656"/>
            <a:ext cx="41148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626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60120" y="29992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高維欄位瓶頸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29000" y="29992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自研 GC 相關矩陣 O(n²)；欄位 &gt;1,000 時效能急劇下降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38728"/>
            <a:ext cx="411480" cy="4114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538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0120" y="35753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mpUCCs 實驗性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29000" y="3575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API 仍可能調整，不建議作為唯一正式合規依據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114800"/>
            <a:ext cx="411480" cy="4114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60120" y="415137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社群規模尚小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429000" y="4151376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stars、1 fork（2026-06）；第三方教學與插件資源有限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  洞察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四大戰略洞察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15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0292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887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51560" y="1188720"/>
            <a:ext cx="758952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124358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政策流派定位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43000" y="1536192"/>
            <a:ext cx="7406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評估門檻直接對齊 PDPC，在合規報告中可直接引用，適合政府機關與受監管產業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50292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1031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51560" y="2103120"/>
            <a:ext cx="758952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215798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端到端完整管線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43000" y="2450592"/>
            <a:ext cx="7406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大多數競品只做合成，評估留給使用者組合；PETsARD 整合生成+評估，適合需嚴格文件化的場景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50292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017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51560" y="3017520"/>
            <a:ext cx="758952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307238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mpUCCs 潛在貢獻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" y="3364992"/>
            <a:ext cx="7406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若 16× 速度聲稱在更多資料集驗證，並完成學術發表，將填補完整性隱私評估缺口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50292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9319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51560" y="3931920"/>
            <a:ext cx="758952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43000" y="398678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差分隱私戰略缺口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43000" y="4279392"/>
            <a:ext cx="7406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現有框架基於攻擊模型非形式化 DP 保證；整合 OpenDP 將大幅提升合規覆蓋範圍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  建議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分角色建議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901184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深度研究報告  ·  16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90118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|  2026-06-23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822960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34440"/>
            <a:ext cx="1828800" cy="10789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34440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資料科學家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1307592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先以 petsard-gaussian-copula 起步（快速＋可解釋）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423160" y="1618488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必跑 Anonymeter Singling Out（唯一強制評估）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23160" y="1929384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品質不足再改 CTGAN / TVAE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404872"/>
            <a:ext cx="8229600" cy="1078992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404872"/>
            <a:ext cx="1828800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404872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資安/合規人員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2478024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 Anonymeter 結果作為隱私評估報告核心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423160" y="2788920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mpUCCs 可輔助參考，不作為唯一合規依據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423160" y="3099816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追蹤 PETsARD 差分隱私整合計畫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575304"/>
            <a:ext cx="8229600" cy="1078992"/>
          </a:xfrm>
          <a:prstGeom prst="rect">
            <a:avLst/>
          </a:prstGeom>
          <a:solidFill>
            <a:srgbClr val="CCFBF1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575304"/>
            <a:ext cx="1828800" cy="1078992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575304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政策制定者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23160" y="3648456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考慮將 PETsARD 評估框架納入資料開放標準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423160" y="3959352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投入資源讓 mpUCCs 完成學術發表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423160" y="4270248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解除 Python 3.10–3.11 版本限制以利企業導入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PETsARD Deep Research Report  ·  2026-06-23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謝謝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AE6F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— 隱私強化技術分析、研究與開發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主要來源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GitHub: nics-dp/petsard  —  https://github.com/nics-dp/petsard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072384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官方文件: https://nics-dp.github.io/petsard/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0156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PyPI: https://pypi.org/project/petsard/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30752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Anonymeter: Giomi et al., PoPETs 2023 — https://arxiv.org/abs/2211.10459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059936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新加坡 PDPC 合成資料指引 (2023)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PETsARD 深度研究報告</dc:title>
  <dc:subject>Privacy Enhancing Technologies Analysis Research Development</dc:subject>
  <dc:creator>NICS-CAPE Deep Research</dc:creator>
  <cp:lastModifiedBy>NICS-CAPE Deep Research</cp:lastModifiedBy>
  <cp:revision>1</cp:revision>
  <dcterms:created xsi:type="dcterms:W3CDTF">2026-06-23T00:35:07Z</dcterms:created>
  <dcterms:modified xsi:type="dcterms:W3CDTF">2026-06-23T00:35:07Z</dcterms:modified>
</cp:coreProperties>
</file>